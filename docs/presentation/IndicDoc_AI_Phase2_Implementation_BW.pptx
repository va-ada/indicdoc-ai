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IndicDoc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Project title: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IndicDoc Verify: Deep-Learning Layout Analysis for Pre-Print Checking of Indian Question Papers and Their Translations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Team: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Riddhi Patil (39), Mariam Badure (40), Prashant Jha (41), Aditya Soni (42)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Course: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DL Mini Project (Expt. 11, SDG-based)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Department of Artificial Intelligence and Machine Learning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St. Francis Institute of Technology (SFIT)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Project guide: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Dr. Joanne Gomes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Academic year / semester: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2026–27, Semester V (TE AIML)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34439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92608">
              <a:spcAft>
                <a:spcPts val="600"/>
              </a:spcAft>
              <a:buAutoNum type="arabicPeriod" startAt="1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Literature Survey Summary Table</a:t>
            </a:r>
          </a:p>
          <a:p>
            <a:pPr marL="228600" indent="-292608">
              <a:spcAft>
                <a:spcPts val="600"/>
              </a:spcAft>
              <a:buAutoNum type="arabicPeriod" startAt="2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Research Gaps</a:t>
            </a:r>
          </a:p>
          <a:p>
            <a:pPr marL="228600" indent="-292608">
              <a:spcAft>
                <a:spcPts val="600"/>
              </a:spcAft>
              <a:buAutoNum type="arabicPeriod" startAt="3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Problem Statement and Objectives</a:t>
            </a:r>
          </a:p>
          <a:p>
            <a:pPr marL="228600" indent="-292608">
              <a:spcAft>
                <a:spcPts val="600"/>
              </a:spcAft>
              <a:buAutoNum type="arabicPeriod" startAt="4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Proposed System, Methodology and Novelty</a:t>
            </a:r>
          </a:p>
          <a:p>
            <a:pPr marL="228600" indent="-292608">
              <a:spcAft>
                <a:spcPts val="600"/>
              </a:spcAft>
              <a:buAutoNum type="arabicPeriod" startAt="5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System Block Diagram</a:t>
            </a:r>
          </a:p>
          <a:p>
            <a:pPr marL="228600" indent="-292608">
              <a:spcAft>
                <a:spcPts val="600"/>
              </a:spcAft>
              <a:buAutoNum type="arabicPeriod" startAt="6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Dataset Description and Pre-processing</a:t>
            </a:r>
          </a:p>
          <a:p>
            <a:pPr marL="228600" indent="-292608">
              <a:spcAft>
                <a:spcPts val="600"/>
              </a:spcAft>
              <a:buAutoNum type="arabicPeriod" startAt="7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Deep Learning Model Architecture</a:t>
            </a:r>
          </a:p>
          <a:p>
            <a:pPr marL="228600" indent="-292608">
              <a:spcAft>
                <a:spcPts val="600"/>
              </a:spcAft>
              <a:buAutoNum type="arabicPeriod" startAt="8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Tools, Technologies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234439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92608">
              <a:spcAft>
                <a:spcPts val="600"/>
              </a:spcAft>
              <a:buAutoNum type="arabicPeriod" startAt="9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  <a:p>
            <a:pPr marL="228600" indent="-292608">
              <a:spcAft>
                <a:spcPts val="600"/>
              </a:spcAft>
              <a:buAutoNum type="arabicPeriod" startAt="10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Experimental Setup and Training</a:t>
            </a:r>
          </a:p>
          <a:p>
            <a:pPr marL="228600" indent="-292608">
              <a:spcAft>
                <a:spcPts val="600"/>
              </a:spcAft>
              <a:buAutoNum type="arabicPeriod" startAt="11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Results and Performance Evaluation</a:t>
            </a:r>
          </a:p>
          <a:p>
            <a:pPr marL="228600" indent="-292608">
              <a:spcAft>
                <a:spcPts val="600"/>
              </a:spcAft>
              <a:buAutoNum type="arabicPeriod" startAt="12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Comparison with Baseline / Existing Methods</a:t>
            </a:r>
          </a:p>
          <a:p>
            <a:pPr marL="228600" indent="-292608">
              <a:spcAft>
                <a:spcPts val="600"/>
              </a:spcAft>
              <a:buAutoNum type="arabicPeriod" startAt="13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Sample Outputs and Demonstration</a:t>
            </a:r>
          </a:p>
          <a:p>
            <a:pPr marL="228600" indent="-292608">
              <a:spcAft>
                <a:spcPts val="600"/>
              </a:spcAft>
              <a:buAutoNum type="arabicPeriod" startAt="14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Challenges and Limitations</a:t>
            </a:r>
          </a:p>
          <a:p>
            <a:pPr marL="228600" indent="-292608">
              <a:spcAft>
                <a:spcPts val="600"/>
              </a:spcAft>
              <a:buAutoNum type="arabicPeriod" startAt="15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Conclusion and Future Scope</a:t>
            </a:r>
          </a:p>
          <a:p>
            <a:pPr marL="228600" indent="-292608">
              <a:spcAft>
                <a:spcPts val="600"/>
              </a:spcAft>
              <a:buAutoNum type="arabicPeriod" startAt="16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Literature Survey Summary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52" cy="5632704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2103120"/>
                <a:gridCol w="2377440"/>
                <a:gridCol w="2377440"/>
                <a:gridCol w="2496312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Ref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Author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Problem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Dataset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Nath et al., 2025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Layout parsing of Indian-language pages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IndicDLP: 119,806 pages, 12 languages, 42 labels incl. questions and options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Benchmark of YOLOv10x, DocLayout-YOLO, RoDLA, DINO, DiT, Florence-2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Detects regions only; nobody uses the question labels to check papers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Kasuba et al., 2025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Page-level handwritten Indic text recognition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CHIPS, ~25K pages, 10 languages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DBNet word detection + 6 recognisers (CRNN, PARSeq, ...)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User must name the language; text 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Mondal et al., 2026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Multilingual table detection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UniTabBank: 55K pages, 82K tables, 28 languages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Semi-automatic labelling; YOLOv11 detector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Borderless tables and degraded scans fail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Pal et al., 2024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Table question answering, low-resource Indic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BanglaTabQA 2M, HindiTabQA 643K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SQL-generated QA; fine-tuned mBART / M2M / Llama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Wikipedia tables 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Xu et al., 2021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Multilingual document understanding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30M docs; XFUND, 7 languages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LayoutXLM: text + layout + image transformer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No Indian language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[6]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Kasuba et al., 2025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Grounding answers on the page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MGVG: 70 circulars, 509 QA pairs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OCR + Llama-3.1-8B + region matching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OCR-dependent; single page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[7]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Bhattacharyya et al., 2025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Hindi OCR with vision-language models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1.1M printed Hindi words + pages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LoRA-tuned GOT-OCR 2.0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Hindi only; mixed-language lines are hard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[8]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Dumada &amp; Shah, 2026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Devanagari table extraction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500+ Devanagari documents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Structure + Tesseract content, weighted fusion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No ablation; self-reported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[9]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Babayeva et al., 2025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Translating a test into other languages with an LLM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Force Concept Inventory, many languages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GPT-4o translation + back-translation + human review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Every item still checked by hand; no page structure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[10]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Rei et al., 2022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Translation quality estimation without a reference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WMT 2022 QE shared task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CometKiwi: multilingual encoder predicts quality per sentence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Plain sentences: no question numbers, options or marks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Research Gaps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74552" cy="4114800"/>
        </p:xfrm>
        <a:graphic>
          <a:graphicData uri="http://schemas.openxmlformats.org/drawingml/2006/table">
            <a:tbl>
              <a:tblPr/>
              <a:tblGrid>
                <a:gridCol w="548640"/>
                <a:gridCol w="5349240"/>
                <a:gridCol w="5376672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Gap in existing work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How this project addresses it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G1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Exam papers are translated into up to 13 languages and vetted only by hand; errors reach candidates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An automatic pre-print check of every language version against the source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G2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Translation-quality tools [9, 10] read plain sentences: blind to question numbers, options, marks, figures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Compare versions question by question using the page layout itself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G3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Indic layout models [1] detect questions and options, but this is not used to check papers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Use the detector's question / option regions (AP@50 0.81–0.90) as the backbone of the checker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G4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Indic OCR misreads Latin digits in mixed text [7]; a checker of numbers needs every digit right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 "number pass": two OCR models must agree on every number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97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3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Court e-filing checks already exist (Supreme Court + IIT Madras), so we chose what </a:t>
            </a:r>
            <a:r>
              <a:rPr sz="1400" b="1">
                <a:solidFill>
                  <a:srgbClr val="000000"/>
                </a:solidFill>
                <a:latin typeface="Times New Roman"/>
              </a:rPr>
              <a:t>nobody automates yet</a:t>
            </a:r>
            <a:r>
              <a:rPr sz="1400" b="0">
                <a:solidFill>
                  <a:srgbClr val="000000"/>
                </a:solidFill>
                <a:latin typeface="Times New Roman"/>
              </a:rPr>
              <a:t>: checking a question paper and its translations.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Problem Statement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600440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Problem: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exam papers are translated into Hindi and regional languages and checked only by hand; errors reach lakhs of candidates.</a:t>
            </a:r>
          </a:p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Main objective: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an offline DL system that flags errors in a paper and every difference from its source version, before printing.</a:t>
            </a:r>
          </a:p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Specific objectives:</a:t>
            </a:r>
          </a:p>
          <a:p>
            <a:pPr marL="502920" indent="-201168">
              <a:spcAft>
                <a:spcPts val="500"/>
              </a:spcAft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Detect questions, options, answers with a layout detector (compare 3).</a:t>
            </a:r>
          </a:p>
          <a:p>
            <a:pPr marL="502920" indent="-201168">
              <a:spcAft>
                <a:spcPts val="500"/>
              </a:spcAft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Read text with reliable numbers in 12 languages.</a:t>
            </a:r>
          </a:p>
          <a:p>
            <a:pPr marL="502920" indent="-201168">
              <a:spcAft>
                <a:spcPts val="500"/>
              </a:spcAft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Check numbering, duplicates, options, marks, parity, repeats.</a:t>
            </a:r>
          </a:p>
          <a:p>
            <a:pPr marL="502920" indent="-201168">
              <a:spcAft>
                <a:spcPts val="500"/>
              </a:spcAft>
              <a:buChar char="•"/>
            </a:pPr>
            <a:r>
              <a:rPr sz="1350" b="0">
                <a:solidFill>
                  <a:srgbClr val="000000"/>
                </a:solidFill>
                <a:latin typeface="Times New Roman"/>
              </a:rPr>
              <a:t>Measure on a benchmark; ship app + API in Docker.</a:t>
            </a:r>
          </a:p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Expected output: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verdict + each finding with question and page (HTML / JSON).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7367" y="1051560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It has already happened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27367" y="1463039"/>
          <a:ext cx="4907127" cy="4114800"/>
        </p:xfrm>
        <a:graphic>
          <a:graphicData uri="http://schemas.openxmlformats.org/drawingml/2006/table">
            <a:tbl>
              <a:tblPr/>
              <a:tblGrid>
                <a:gridCol w="1463040"/>
                <a:gridCol w="3444087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Exam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What went wrong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NEET-UG 2018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</a:rPr>
                        <a:t>49 questions wrong in the Tamil version; HC ordered 196 grace marks, SC set it aside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KPSC KAS 2024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</a:rPr>
                        <a:t>59 errors in the Kannada paper; re-exam for ~2 lakh candidates, errors again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APPSC Group-I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</a:rPr>
                        <a:t>51 of 120 questions alleged mistranslated into Telugu; SC notice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UGC-NET Jun 2026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</a:rPr>
                        <a:t>Translation errors + questions repeated from old papers; re-test 9–10 Sep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MBBS (NTRUHS) 2026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</a:rPr>
                        <a:t>The same MCQ printed twice; AP HC ordered a compensatory mark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Proposed System, Methodology and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5576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Workflow (input to output):</a:t>
            </a:r>
          </a:p>
          <a:p>
            <a:pPr marL="228600" indent="-292608">
              <a:spcAft>
                <a:spcPts val="600"/>
              </a:spcAft>
              <a:buAutoNum type="arabicPeriod" startAt="1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Paper in: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PDF / scans + source version</a:t>
            </a:r>
          </a:p>
          <a:p>
            <a:pPr marL="228600" indent="-292608">
              <a:spcAft>
                <a:spcPts val="600"/>
              </a:spcAft>
              <a:buAutoNum type="arabicPeriod" startAt="2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Find structure: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DocLayout-YOLO: questions, options</a:t>
            </a:r>
          </a:p>
          <a:p>
            <a:pPr marL="228600" indent="-292608">
              <a:spcAft>
                <a:spcPts val="600"/>
              </a:spcAft>
              <a:buAutoNum type="arabicPeriod" startAt="3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Read text: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Indic OCR + English number pass</a:t>
            </a:r>
          </a:p>
          <a:p>
            <a:pPr marL="228600" indent="-292608">
              <a:spcAft>
                <a:spcPts val="600"/>
              </a:spcAft>
              <a:buAutoNum type="arabicPeriod" startAt="4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Build questions: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number, stem, options, marks, figures</a:t>
            </a:r>
          </a:p>
          <a:p>
            <a:pPr marL="228600" indent="-292608">
              <a:spcAft>
                <a:spcPts val="600"/>
              </a:spcAft>
              <a:buAutoNum type="arabicPeriod" startAt="5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Check: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structure, parity, repeats, format</a:t>
            </a:r>
          </a:p>
          <a:p>
            <a:pPr marL="228600" indent="-292608">
              <a:spcAft>
                <a:spcPts val="600"/>
              </a:spcAft>
              <a:buAutoNum type="arabicPeriod" startAt="6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Report: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verdict + findings on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051560"/>
            <a:ext cx="545576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8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Deep learning: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DocLayout-YOLO finds every question, option and answer (AP@50 0.81–0.90).</a:t>
            </a:r>
          </a:p>
          <a:p>
            <a:pPr marL="228600" indent="-201168">
              <a:spcAft>
                <a:spcPts val="8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Novelty 1 – parity without translation: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numbers, options, marks and figures must match in every language.</a:t>
            </a:r>
          </a:p>
          <a:p>
            <a:pPr marL="228600" indent="-201168">
              <a:spcAft>
                <a:spcPts val="8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Novelty 2 – number pass: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two OCR models must agree on every digit.</a:t>
            </a:r>
          </a:p>
          <a:p>
            <a:pPr marL="228600" indent="-201168">
              <a:spcAft>
                <a:spcPts val="8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USP: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the only tool we found that checks a paper against its translations, offline, in 12 languages.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System 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64592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0515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Streamlit app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Verify Paper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0515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REST API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POST /verify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2080" y="140817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869680" y="10515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Docker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offline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140817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1764792"/>
            <a:ext cx="0" cy="34747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112264"/>
            <a:ext cx="164592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11226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Render pages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PDF at 200 dpi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11226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Source version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optional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468880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869680" y="211226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Bank, profile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old papers,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2468880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2825496"/>
            <a:ext cx="0" cy="34747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172968"/>
            <a:ext cx="164592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DEEP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172968"/>
            <a:ext cx="2834640" cy="713232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Layout detector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DocLayout-YOLO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3172968"/>
            <a:ext cx="2834640" cy="713232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Post-process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threshold, de-duplicate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80" y="3529584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869680" y="3172968"/>
            <a:ext cx="2834640" cy="713232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Question regions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questions, options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529584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0" y="3886200"/>
            <a:ext cx="0" cy="34747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233672"/>
            <a:ext cx="164592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423367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Indic OCR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Tesseract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423367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Number pass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digits must agree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12080" y="4590288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869680" y="423367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Build questions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stem, options, marks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58200" y="4590288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40880" y="4946904"/>
            <a:ext cx="0" cy="34747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5294376"/>
            <a:ext cx="164592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CHECKS,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29437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Structure, repeats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numbering, marks, bank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529437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Translation parity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align versions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12080" y="5650992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869680" y="529437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Report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verdict, HTML / JSON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58200" y="5650992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</a:rPr>
              <a:t>Grey: deep-learning stage. The source version follows the same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Dataset Description and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36432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Dataset and source: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IndicDLP (ICDAR 2025), Hugging Face / AIKosh; 12 languages, 42 labels.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Samples: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3,317 pages, 49,995 boxes, 42 classes.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Split: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train 2,293 / val 342 / test 682 pages.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Benchmark: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132 English–Hindi/Tamil paper pairs, 108 with one injected error.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Pre-processing: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COCO → YOLO labels, 640 / 1024 px; PDFs at 200 dpi.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Augmentation: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mosaic, HSV, scale (YOLO); jitter, blur (R-CNN).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Challenges: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class imbalance (paragraph ≈ 32%); no public data of real errors.</a:t>
            </a:r>
          </a:p>
        </p:txBody>
      </p:sp>
      <p:pic>
        <p:nvPicPr>
          <p:cNvPr id="4" name="Picture 3" descr="bench_en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7" y="1325880"/>
            <a:ext cx="1808703" cy="2560320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278727" y="3913632"/>
            <a:ext cx="1991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English source</a:t>
            </a:r>
          </a:p>
        </p:txBody>
      </p:sp>
      <p:pic>
        <p:nvPicPr>
          <p:cNvPr id="6" name="Picture 5" descr="bench_hi_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255" y="1325880"/>
            <a:ext cx="1808703" cy="2560320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25815" y="3913632"/>
            <a:ext cx="1991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Hindi version</a:t>
            </a:r>
          </a:p>
        </p:txBody>
      </p:sp>
      <p:pic>
        <p:nvPicPr>
          <p:cNvPr id="8" name="Picture 7" descr="hindi_newspapers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343" y="1325880"/>
            <a:ext cx="1611032" cy="2560320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972903" y="3913632"/>
            <a:ext cx="1793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IndicDLP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44805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</a:rPr>
              <a:t>Actual data 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Deep Learning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19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300"/>
              </a:spcAft>
              <a:buChar char="•"/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Selected:</a:t>
            </a:r>
            <a:r>
              <a:rPr sz="1400" b="0">
                <a:solidFill>
                  <a:srgbClr val="000000"/>
                </a:solidFill>
                <a:latin typeface="Times New Roman"/>
              </a:rPr>
              <a:t> DocLayout-YOLO, 20.0 M params, pretrained on IndicDLP by its authors. </a:t>
            </a:r>
            <a:r>
              <a:rPr sz="1400" b="1">
                <a:solidFill>
                  <a:srgbClr val="000000"/>
                </a:solidFill>
                <a:latin typeface="Times New Roman"/>
              </a:rPr>
              <a:t>Input</a:t>
            </a:r>
            <a:r>
              <a:rPr sz="1400" b="0">
                <a:solidFill>
                  <a:srgbClr val="000000"/>
                </a:solidFill>
                <a:latin typeface="Times New Roman"/>
              </a:rPr>
              <a:t> page image → </a:t>
            </a:r>
            <a:r>
              <a:rPr sz="1400" b="1">
                <a:solidFill>
                  <a:srgbClr val="000000"/>
                </a:solidFill>
                <a:latin typeface="Times New Roman"/>
              </a:rPr>
              <a:t>output</a:t>
            </a:r>
            <a:r>
              <a:rPr sz="1400" b="0">
                <a:solidFill>
                  <a:srgbClr val="000000"/>
                </a:solidFill>
                <a:latin typeface="Times New Roman"/>
              </a:rPr>
              <a:t> boxes with 42 labels. </a:t>
            </a:r>
            <a:r>
              <a:rPr sz="1400" b="1">
                <a:solidFill>
                  <a:srgbClr val="000000"/>
                </a:solidFill>
                <a:latin typeface="Times New Roman"/>
              </a:rPr>
              <a:t>Modified:</a:t>
            </a:r>
            <a:r>
              <a:rPr sz="1400" b="0">
                <a:solidFill>
                  <a:srgbClr val="000000"/>
                </a:solidFill>
                <a:latin typeface="Times New Roman"/>
              </a:rPr>
              <a:t> 42-class heads.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Times New Roman"/>
              </a:rPr>
              <a:t>DocLayout-YOLO, 20.0 M (used)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7627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Input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1024²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17627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Backbone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CSP + GL-CRM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50545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03520" y="217627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Neck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92040" y="250545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635240" y="217627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Head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NMS-free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23759" y="2505456"/>
            <a:ext cx="411481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66960" y="217627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Output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42 classes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250545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2918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Times New Roman"/>
              </a:rPr>
              <a:t>YOLOv8s, 11.2 M (ours)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3931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Input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640²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63931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Backbone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CSPDarknet C2f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396849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03520" y="363931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Neck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PAN-FPN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96849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635240" y="363931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Head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anchor-free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59" y="3968496"/>
            <a:ext cx="411481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966960" y="363931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Output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42 classes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396849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475488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Times New Roman"/>
              </a:rPr>
              <a:t>Faster R-CNN, 41.5 M (baseline)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0235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Input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640–1024 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510235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Backbone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ResNet-50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543153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303520" y="510235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Neck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FPN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92040" y="543153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35240" y="5102352"/>
            <a:ext cx="1920240" cy="658368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RPN + RoIAlign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proposals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23759" y="5431536"/>
            <a:ext cx="411481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966960" y="5102352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Box head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42 + bg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55480" y="5431536"/>
            <a:ext cx="4114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Tools, Technologies and Environment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4552" cy="5266944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Details to report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Programming language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Python 3.11 (ML, checks, app, API); JavaScript (Node) for the benchmark renderer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DL framework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PyTorch 2 with torchvision; Ultralytics 8 (YOLOv8); doclayout-yolo 0.0.4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Development environment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VS Code / terminal, Git + GitHub, pytest (unit tests for every check)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Libraries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pycocotools, OpenCV, Pillow, NumPy, pandas, Matplotlib, PyMuPDF; Tesseract 5 (tessdata_best, 12 scripts); tesseract.js for the benchmark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Hardware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Apple M1 Pro GPU via PyTorch MPS (training, evaluation); CPU container for the benchmark; CPU in Docker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Dataset tools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Hugging Face Hub + fsspec (partial Parquet reads); COCO / YOLO converters; Playwright + Noto fonts to render benchmark papers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Interface / deployment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Streamlit app (Verify Paper tab) + FastAPI (/verify); Docker + docker-compose, offline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55767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Built: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checker (ml/verify), OCR + number pass, 2 trained detectors, benchmark, app, API.</a:t>
            </a:r>
          </a:p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Data loading: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IndicDLP Parquet → COCO; PDFs at 200 dpi.</a:t>
            </a:r>
          </a:p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Model: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pretrained DocLayout-YOLO; YOLOv8s, Faster R-CNN fine-tuned.</a:t>
            </a:r>
          </a:p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Loss / optimiser: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CIoU + DFL + BCE; SGD lr 0.005, batch 4.</a:t>
            </a:r>
          </a:p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Inference: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layout → OCR → questions → checks → report.</a:t>
            </a:r>
          </a:p>
          <a:p>
            <a:pPr marL="228600" indent="-201168">
              <a:spcAft>
                <a:spcPts val="7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Interface: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Streamlit tab + POST /verify.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78727" y="1051560"/>
            <a:ext cx="545576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out = predict_single(model, page, "doclayout")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doc = extract_document(page, out, "hin",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                       number_pass=True)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report = verify(hindi_pages,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ourier New"/>
              </a:rPr>
              <a:t>                source_pages=english_pages)</a:t>
            </a:r>
          </a:p>
        </p:txBody>
      </p:sp>
      <p:pic>
        <p:nvPicPr>
          <p:cNvPr id="5" name="Picture 4" descr="07_verify_report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2560320"/>
            <a:ext cx="4358487" cy="3064561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735927" y="5652313"/>
            <a:ext cx="4541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0000"/>
                </a:solidFill>
                <a:latin typeface="Times New Roman"/>
              </a:rPr>
              <a:t>Report produced by the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Experimental Setup and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Data: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train 2,293 / val 342 / test 682; benchmark 132 + 48 dev pairs.</a:t>
            </a:r>
          </a:p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Faster R-CNN: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batch 4, SGD 0.005, 2 epochs, 76 min.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YOLOv8s: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640 px, batch 8, 12 epochs, 60 min (M1 Pro GPU).</a:t>
            </a:r>
          </a:p>
          <a:p>
            <a:pPr marL="228600" indent="-201168">
              <a:spcAft>
                <a:spcPts val="5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Experiments: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layout mAP; robustness to scan damage; verification benchmark; ablations.</a:t>
            </a:r>
          </a:p>
        </p:txBody>
      </p:sp>
      <p:pic>
        <p:nvPicPr>
          <p:cNvPr id="4" name="Picture 3" descr="fig_training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651760"/>
            <a:ext cx="8716975" cy="2724055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645919" y="5403247"/>
            <a:ext cx="88998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0000"/>
                </a:solidFill>
                <a:latin typeface="Times New Roman"/>
              </a:rPr>
              <a:t>Training / validation curves (measured)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Results and Performance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5458968" cy="146304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914400"/>
                <a:gridCol w="822960"/>
                <a:gridCol w="685800"/>
                <a:gridCol w="47548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mAP@50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mAP@50:95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</a:rPr>
                        <a:t>F1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DocLayout-YOLO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0.759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0.575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0.848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0.775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0.810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YOLOv8s (ours)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0.259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0.165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0.603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0.508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0.551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Faster R-CNN (ours)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0.148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0.079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0.510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0.435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</a:rPr>
                        <a:t>0.469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0"/>
            <a:ext cx="56386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98%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of injected errors found at the right question (born-digital); 98% on scans.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3.0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false alarms per clean pair (born-digital).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132/132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papers: every question recovered.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Question labels AP@50: 0.81–0.90.</a:t>
            </a:r>
          </a:p>
        </p:txBody>
      </p:sp>
      <p:pic>
        <p:nvPicPr>
          <p:cNvPr id="5" name="Picture 4" descr="fig_verify_by_type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7" y="1051560"/>
            <a:ext cx="5272887" cy="2778954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370167" y="3857946"/>
            <a:ext cx="54557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000000"/>
                </a:solidFill>
                <a:latin typeface="Times New Roman"/>
              </a:rPr>
              <a:t>Errors found per error 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Comparison with Baseline / Existing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5458968" cy="1536192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5272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Detector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mAP@50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mAP@50:95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Faster R-CNN (baseline)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0.148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0.079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YOLOv8s (ours)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0.259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0.165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DocLayout-YOLO (used)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0.759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0.575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880360"/>
          <a:ext cx="5458968" cy="192024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52728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Verification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Found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False alarms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Full system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98%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4.5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 number pass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77%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13.8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 layout options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98%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11.5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Noisy layout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98%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7.5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15887" y="1051560"/>
          <a:ext cx="5458968" cy="22860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80136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Existing approach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Checks paper?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Compares versions?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Manual vetting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by hand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by hand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Answer-sheet AI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MT quality estimation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 structure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sentences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IndicDoc Verify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question by question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9525" cmpd="sng">
                      <a:solidFill>
                        <a:srgbClr val="000000"/>
                      </a:solidFill>
                    </a:lnL>
                    <a:lnR w="9525" cmpd="sng">
                      <a:solidFill>
                        <a:srgbClr val="000000"/>
                      </a:solidFill>
                    </a:lnR>
                    <a:lnT w="9525" cmpd="sng">
                      <a:solidFill>
                        <a:srgbClr val="000000"/>
                      </a:solidFill>
                    </a:lnT>
                    <a:lnB w="9525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15887" y="3703320"/>
            <a:ext cx="531860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3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Metric: COCO mAP (layout); errors found and false alarms (verification).</a:t>
            </a:r>
          </a:p>
          <a:p>
            <a:pPr marL="228600" indent="-201168">
              <a:spcAft>
                <a:spcPts val="3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Proposed approach improves: YOLOv8s &gt; baseline; number pass is the largest 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Sample Outputs and Demonstration</a:t>
            </a:r>
          </a:p>
        </p:txBody>
      </p:sp>
      <p:pic>
        <p:nvPicPr>
          <p:cNvPr id="3" name="Picture 2" descr="08_verify_page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4724247" cy="2572185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31520" y="3651177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1">
                <a:solidFill>
                  <a:srgbClr val="000000"/>
                </a:solidFill>
                <a:latin typeface="Times New Roman"/>
              </a:rPr>
              <a:t>Correct:</a:t>
            </a:r>
            <a:r>
              <a:rPr sz="950" b="0" i="1">
                <a:solidFill>
                  <a:srgbClr val="000000"/>
                </a:solidFill>
                <a:latin typeface="Times New Roman"/>
              </a:rPr>
              <a:t> changed number found and outlined</a:t>
            </a:r>
          </a:p>
        </p:txBody>
      </p:sp>
      <p:pic>
        <p:nvPicPr>
          <p:cNvPr id="5" name="Picture 4" descr="09_false_alarm_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35224"/>
            <a:ext cx="4724247" cy="1714790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1520" y="5777446"/>
            <a:ext cx="49071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1">
                <a:solidFill>
                  <a:srgbClr val="000000"/>
                </a:solidFill>
                <a:latin typeface="Times New Roman"/>
              </a:rPr>
              <a:t>Incorrect:</a:t>
            </a:r>
            <a:r>
              <a:rPr sz="950" b="0" i="1">
                <a:solidFill>
                  <a:srgbClr val="000000"/>
                </a:solidFill>
                <a:latin typeface="Times New Roman"/>
              </a:rPr>
              <a:t> a false alarm on a degraded scan</a:t>
            </a:r>
          </a:p>
        </p:txBody>
      </p:sp>
      <p:pic>
        <p:nvPicPr>
          <p:cNvPr id="7" name="Picture 6" descr="02_detection_tamil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051560"/>
            <a:ext cx="3017520" cy="1885950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87287" y="296494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Running app (Tamil page)</a:t>
            </a:r>
          </a:p>
        </p:txBody>
      </p:sp>
      <p:pic>
        <p:nvPicPr>
          <p:cNvPr id="9" name="Picture 8" descr="authors_confusion_matrix_b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127" y="1051560"/>
            <a:ext cx="2194560" cy="1795549"/>
          </a:xfrm>
          <a:prstGeom prst="rect">
            <a:avLst/>
          </a:prstGeom>
          <a:ln w="6350">
            <a:solidFill>
              <a:srgbClr val="0000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87687" y="28745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0000"/>
                </a:solidFill>
                <a:latin typeface="Times New Roman"/>
              </a:rPr>
              <a:t>Confusion matrix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14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OCR misreads digits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in Indic text ("1947" → "947"): solved with the number pass.</a:t>
            </a:r>
          </a:p>
          <a:p>
            <a:pPr marL="228600" indent="-201168">
              <a:spcAft>
                <a:spcPts val="14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No public data of real errors: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we built a benchmark with injected errors.</a:t>
            </a:r>
          </a:p>
          <a:p>
            <a:pPr marL="228600" indent="-201168">
              <a:spcAft>
                <a:spcPts val="14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Meaning is not checked yet: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a dropped word needs a cross-lingual model.</a:t>
            </a:r>
          </a:p>
          <a:p>
            <a:pPr marL="228600" indent="-201168">
              <a:spcAft>
                <a:spcPts val="1400"/>
              </a:spcAft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Limited compute: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 our detectors trained ~1 hour on 2.3K pages, so the product uses the released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8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Conclusion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Implemented: layout detection, OCR with number pass, checks, report, app, API, Docker.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Results: 98% of errors found; best layout model 0.759 mAP@50.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All four objectives met.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143000"/>
            <a:ext cx="545576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8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Future scope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Pilot with an exam body on real papers.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Meaning check (cross-lingual model).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Better Indic OCR; answer-key check.</a:t>
            </a:r>
          </a:p>
          <a:p>
            <a:pPr marL="502920" indent="-201168">
              <a:spcAft>
                <a:spcPts val="800"/>
              </a:spcAft>
              <a:buChar char="•"/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More document profiles (circulars, forms).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39"/>
            <a:ext cx="5455767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92608">
              <a:spcAft>
                <a:spcPts val="300"/>
              </a:spcAft>
              <a:buAutoNum type="arabicPeriod" startAt="1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O. Nath, S. Kukkala, M. Khapra, R. K. Sarvadevabhatla, "IndicDLP: A Foundational Dataset for Multi-Lingual and Multi-Domain Document Layout Parsing," ICDAR 2025.</a:t>
            </a:r>
          </a:p>
          <a:p>
            <a:pPr marL="228600" indent="-292608">
              <a:spcAft>
                <a:spcPts val="300"/>
              </a:spcAft>
              <a:buAutoNum type="arabicPeriod" startAt="2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B. V. Kasuba et al., "PLATTER: A Page-Level Handwritten Text Recognition System for Indic Scripts," arXiv:2502.06172, 2025.</a:t>
            </a:r>
          </a:p>
          <a:p>
            <a:pPr marL="228600" indent="-292608">
              <a:spcAft>
                <a:spcPts val="300"/>
              </a:spcAft>
              <a:buAutoNum type="arabicPeriod" startAt="3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A. Mondal et al., "UniTabBank: A Large Scale Multi-Lingual, Multi-Layout, Multi-Type, Multi-Format Dataset for Table Detection," WACV 2026.</a:t>
            </a:r>
          </a:p>
          <a:p>
            <a:pPr marL="228600" indent="-292608">
              <a:spcAft>
                <a:spcPts val="300"/>
              </a:spcAft>
              <a:buAutoNum type="arabicPeriod" startAt="4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V. Pal, E. Kanoulas, A. Yates, M. de Rijke, "Table Question Answering for Low-resourced Indic Languages," arXiv:2410.03576, 2024.</a:t>
            </a:r>
          </a:p>
          <a:p>
            <a:pPr marL="228600" indent="-292608">
              <a:spcAft>
                <a:spcPts val="300"/>
              </a:spcAft>
              <a:buAutoNum type="arabicPeriod" startAt="5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Y. Xu et al., "LayoutXLM: Multimodal Pre-training for Multilingual Visually-rich Document Understanding," arXiv:2104.08836, 2021.</a:t>
            </a:r>
          </a:p>
          <a:p>
            <a:pPr marL="228600" indent="-292608">
              <a:spcAft>
                <a:spcPts val="300"/>
              </a:spcAft>
              <a:buAutoNum type="arabicPeriod" startAt="6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B. V. Kasuba, P. Chaudhuri, G. Ramakrishnan, "DRISHTIKON: Visual Grounding at Multiple Granularities in Documents," arXiv:2506.21316, 2025.</a:t>
            </a:r>
          </a:p>
          <a:p>
            <a:pPr marL="228600" indent="-292608">
              <a:spcAft>
                <a:spcPts val="300"/>
              </a:spcAft>
              <a:buAutoNum type="arabicPeriod" startAt="7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S. Bhattacharyya et al., "Adapting Vision-Language Models for Hindi OCR," IIIT Hyderabad, 2025.</a:t>
            </a:r>
          </a:p>
          <a:p>
            <a:pPr marL="228600" indent="-292608">
              <a:spcAft>
                <a:spcPts val="300"/>
              </a:spcAft>
              <a:buAutoNum type="arabicPeriod" startAt="8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A. R. Dumada, S. G. Shah, "Incorporate Structure and Content for Devanagari Table Extraction," IJSAT 17(1),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005839"/>
            <a:ext cx="545576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92608">
              <a:spcAft>
                <a:spcPts val="300"/>
              </a:spcAft>
              <a:buAutoNum type="arabicPeriod" startAt="9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M. Babayeva, J. Dunlap, M. Snětinová, R. Widenhorn, "Translating the Force Concept Inventory in the Age of AI," arXiv:2508.13908, 2025.</a:t>
            </a:r>
          </a:p>
          <a:p>
            <a:pPr marL="228600" indent="-292608">
              <a:spcAft>
                <a:spcPts val="300"/>
              </a:spcAft>
              <a:buAutoNum type="arabicPeriod" startAt="10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R. Rei et al., "CometKiwi: IST-Unbabel 2022 Submission for the Quality Estimation Shared Task," WMT 2022.</a:t>
            </a:r>
          </a:p>
          <a:p>
            <a:pPr marL="228600" indent="-292608">
              <a:spcAft>
                <a:spcPts val="300"/>
              </a:spcAft>
              <a:buAutoNum type="arabicPeriod" startAt="11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Z. Zhao et al., "DocLayout-YOLO: Enhancing Document Layout Analysis through Diverse Synthetic Data and Global-to-Local Adaptive Perception," arXiv:2410.12628, 2024.</a:t>
            </a:r>
          </a:p>
          <a:p>
            <a:pPr marL="228600" indent="-292608">
              <a:spcAft>
                <a:spcPts val="300"/>
              </a:spcAft>
              <a:buAutoNum type="arabicPeriod" startAt="12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Y. Chen et al., "RoDLA: Benchmarking the Robustness of Document Layout Analysis Models," CVPR 2024.</a:t>
            </a:r>
          </a:p>
          <a:p>
            <a:pPr marL="228600" indent="-292608">
              <a:spcAft>
                <a:spcPts val="300"/>
              </a:spcAft>
              <a:buAutoNum type="arabicPeriod" startAt="13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S. Verma et al., "MILU: A Multi-task Indic Language Understanding Benchmark," NAACL 2025.</a:t>
            </a:r>
          </a:p>
          <a:p>
            <a:pPr marL="228600" indent="-292608">
              <a:spcAft>
                <a:spcPts val="300"/>
              </a:spcAft>
              <a:buAutoNum type="arabicPeriod" startAt="14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G. Jocher, A. Chaurasia, J. Qiu, "Ultralytics YOLOv8," 2023.</a:t>
            </a:r>
          </a:p>
          <a:p>
            <a:pPr marL="228600" indent="-292608">
              <a:spcAft>
                <a:spcPts val="300"/>
              </a:spcAft>
              <a:buAutoNum type="arabicPeriod" startAt="15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J. Ansel et al., "PyTorch 2: Faster Machine Learning Through Dynamic Python Bytecode Transformation and Graph Compilation," ASPLOS 2024.</a:t>
            </a:r>
          </a:p>
          <a:p>
            <a:pPr marL="228600" indent="-292608">
              <a:spcAft>
                <a:spcPts val="300"/>
              </a:spcAft>
              <a:buAutoNum type="arabicPeriod" startAt="16"/>
            </a:pPr>
            <a:r>
              <a:rPr sz="1050" b="0">
                <a:solidFill>
                  <a:srgbClr val="000000"/>
                </a:solidFill>
                <a:latin typeface="Times New Roman"/>
              </a:rPr>
              <a:t>S. Ren, K. He, R. Girshick, J. Sun, "Faster R-CNN," NeurIPS 2015 (the baseline architecture; the only pre-2021 source).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5166360"/>
            <a:ext cx="545576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300"/>
              </a:spcAft>
              <a:buChar char="•"/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Other:</a:t>
            </a:r>
            <a:r>
              <a:rPr sz="1000" b="0">
                <a:solidFill>
                  <a:srgbClr val="000000"/>
                </a:solidFill>
                <a:latin typeface="Times New Roman"/>
              </a:rPr>
              <a:t> Dataset: huggingface.co/datasets/ai4bharat/indicdlp (AIKosh); Weights: zenodo.org/records/15881917; Tesseract OCR 5 (tessdata_best), tesseract.js 7; Cases: The News Minute (NEET 2018), Deccan Herald / ETV Bharat (KPSC 2024-25), India Legal (APPSC), The Week / SCC Online (UGC-NET 2026), Medical Dialogues (MBBS 2026); Code: github.com/va-ada/IndicDoc-AI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