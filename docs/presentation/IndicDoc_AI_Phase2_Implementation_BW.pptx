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IndicDoc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6675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500"/>
              </a:spcAft>
              <a:buChar char="•"/>
            </a:pPr>
            <a:r>
              <a:rPr sz="1400" b="1">
                <a:solidFill>
                  <a:srgbClr val="000000"/>
                </a:solidFill>
                <a:latin typeface="Times New Roman"/>
              </a:rPr>
              <a:t>Project title: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IndicDoc Verify: Deep-Learning Layout Analysis for Pre-Print Checking of Indian Question Papers and Their Translations</a:t>
            </a:r>
          </a:p>
          <a:p>
            <a:pPr marL="228600" indent="-201168">
              <a:spcAft>
                <a:spcPts val="500"/>
              </a:spcAft>
              <a:buChar char="•"/>
            </a:pPr>
            <a:r>
              <a:rPr sz="1400" b="1">
                <a:solidFill>
                  <a:srgbClr val="000000"/>
                </a:solidFill>
                <a:latin typeface="Times New Roman"/>
              </a:rPr>
              <a:t>Team members:</a:t>
            </a:r>
          </a:p>
          <a:p>
            <a:pPr marL="502920" indent="-201168">
              <a:spcAft>
                <a:spcPts val="500"/>
              </a:spcAft>
              <a:buChar char="•"/>
            </a:pPr>
            <a:r>
              <a:rPr sz="1250" b="0">
                <a:solidFill>
                  <a:srgbClr val="000000"/>
                </a:solidFill>
                <a:latin typeface="Times New Roman"/>
              </a:rPr>
              <a:t>Riddhi Patil (Roll No. 39)</a:t>
            </a:r>
          </a:p>
          <a:p>
            <a:pPr marL="502920" indent="-201168">
              <a:spcAft>
                <a:spcPts val="500"/>
              </a:spcAft>
              <a:buChar char="•"/>
            </a:pPr>
            <a:r>
              <a:rPr sz="1250" b="0">
                <a:solidFill>
                  <a:srgbClr val="000000"/>
                </a:solidFill>
                <a:latin typeface="Times New Roman"/>
              </a:rPr>
              <a:t>Mariam Badure (Roll No. 40)</a:t>
            </a:r>
          </a:p>
          <a:p>
            <a:pPr marL="502920" indent="-201168">
              <a:spcAft>
                <a:spcPts val="500"/>
              </a:spcAft>
              <a:buChar char="•"/>
            </a:pPr>
            <a:r>
              <a:rPr sz="1250" b="0">
                <a:solidFill>
                  <a:srgbClr val="000000"/>
                </a:solidFill>
                <a:latin typeface="Times New Roman"/>
              </a:rPr>
              <a:t>Prashant Jha (Roll No. 41)</a:t>
            </a:r>
          </a:p>
          <a:p>
            <a:pPr marL="502920" indent="-201168">
              <a:spcAft>
                <a:spcPts val="500"/>
              </a:spcAft>
              <a:buChar char="•"/>
            </a:pPr>
            <a:r>
              <a:rPr sz="1250" b="0">
                <a:solidFill>
                  <a:srgbClr val="000000"/>
                </a:solidFill>
                <a:latin typeface="Times New Roman"/>
              </a:rPr>
              <a:t>Aditya Soni (Roll No. 42)</a:t>
            </a:r>
          </a:p>
          <a:p>
            <a:pPr marL="228600" indent="-201168">
              <a:spcAft>
                <a:spcPts val="500"/>
              </a:spcAft>
              <a:buChar char="•"/>
            </a:pPr>
            <a:r>
              <a:rPr sz="1400" b="1">
                <a:solidFill>
                  <a:srgbClr val="000000"/>
                </a:solidFill>
                <a:latin typeface="Times New Roman"/>
              </a:rPr>
              <a:t>Course: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DL Mini Project (Expt. 11, SDG-based)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 </a:t>
            </a:r>
          </a:p>
          <a:p>
            <a:pPr marL="228600" indent="-201168">
              <a:spcAft>
                <a:spcPts val="5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Department of Artificial Intelligence and Machine Learning</a:t>
            </a:r>
          </a:p>
          <a:p>
            <a:pPr marL="228600" indent="-201168">
              <a:spcAft>
                <a:spcPts val="5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St. Francis Institute of Technology (SFIT)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 </a:t>
            </a:r>
          </a:p>
          <a:p>
            <a:pPr marL="228600" indent="-201168">
              <a:spcAft>
                <a:spcPts val="500"/>
              </a:spcAft>
              <a:buChar char="•"/>
            </a:pPr>
            <a:r>
              <a:rPr sz="1400" b="1">
                <a:solidFill>
                  <a:srgbClr val="000000"/>
                </a:solidFill>
                <a:latin typeface="Times New Roman"/>
              </a:rPr>
              <a:t>Project guide: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Dr. Joanne Gomes</a:t>
            </a:r>
          </a:p>
          <a:p>
            <a:pPr marL="228600" indent="-201168">
              <a:spcAft>
                <a:spcPts val="500"/>
              </a:spcAft>
              <a:buChar char="•"/>
            </a:pPr>
            <a:r>
              <a:rPr sz="1400" b="1">
                <a:solidFill>
                  <a:srgbClr val="000000"/>
                </a:solidFill>
                <a:latin typeface="Times New Roman"/>
              </a:rPr>
              <a:t>Academic year / semester: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2026–27, Semester V (TE AIML)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667512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92608">
              <a:spcAft>
                <a:spcPts val="200"/>
              </a:spcAft>
              <a:buAutoNum type="arabicPeriod" startAt="1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Literature Survey Summary Table</a:t>
            </a:r>
          </a:p>
          <a:p>
            <a:pPr marL="228600" indent="-292608">
              <a:spcAft>
                <a:spcPts val="200"/>
              </a:spcAft>
              <a:buAutoNum type="arabicPeriod" startAt="2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Research Gaps</a:t>
            </a:r>
          </a:p>
          <a:p>
            <a:pPr marL="228600" indent="-292608">
              <a:spcAft>
                <a:spcPts val="200"/>
              </a:spcAft>
              <a:buAutoNum type="arabicPeriod" startAt="3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Problem Statement and Objectives</a:t>
            </a:r>
          </a:p>
          <a:p>
            <a:pPr marL="228600" indent="-292608">
              <a:spcAft>
                <a:spcPts val="200"/>
              </a:spcAft>
              <a:buAutoNum type="arabicPeriod" startAt="4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Proposed System, Methodology and Novelty</a:t>
            </a:r>
          </a:p>
          <a:p>
            <a:pPr marL="228600" indent="-292608">
              <a:spcAft>
                <a:spcPts val="200"/>
              </a:spcAft>
              <a:buAutoNum type="arabicPeriod" startAt="5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System Block Diagram</a:t>
            </a:r>
          </a:p>
          <a:p>
            <a:pPr marL="228600" indent="-292608">
              <a:spcAft>
                <a:spcPts val="200"/>
              </a:spcAft>
              <a:buAutoNum type="arabicPeriod" startAt="6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Dataset Description and Pre-processing</a:t>
            </a:r>
          </a:p>
          <a:p>
            <a:pPr marL="228600" indent="-292608">
              <a:spcAft>
                <a:spcPts val="200"/>
              </a:spcAft>
              <a:buAutoNum type="arabicPeriod" startAt="7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Deep Learning Model Architecture</a:t>
            </a:r>
          </a:p>
          <a:p>
            <a:pPr marL="228600" indent="-292608">
              <a:spcAft>
                <a:spcPts val="200"/>
              </a:spcAft>
              <a:buAutoNum type="arabicPeriod" startAt="8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Tools, Technologies and Environment</a:t>
            </a:r>
          </a:p>
          <a:p>
            <a:pPr marL="228600" indent="-292608">
              <a:spcAft>
                <a:spcPts val="200"/>
              </a:spcAft>
              <a:buAutoNum type="arabicPeriod" startAt="9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Implementation Details</a:t>
            </a:r>
          </a:p>
          <a:p>
            <a:pPr marL="228600" indent="-292608">
              <a:spcAft>
                <a:spcPts val="200"/>
              </a:spcAft>
              <a:buAutoNum type="arabicPeriod" startAt="10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Experimental Setup and Training</a:t>
            </a:r>
          </a:p>
          <a:p>
            <a:pPr marL="228600" indent="-292608">
              <a:spcAft>
                <a:spcPts val="200"/>
              </a:spcAft>
              <a:buAutoNum type="arabicPeriod" startAt="11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Results and Performance Evaluation</a:t>
            </a:r>
          </a:p>
          <a:p>
            <a:pPr marL="228600" indent="-292608">
              <a:spcAft>
                <a:spcPts val="200"/>
              </a:spcAft>
              <a:buAutoNum type="arabicPeriod" startAt="12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Comparison with Baseline / Existing Methods</a:t>
            </a:r>
          </a:p>
          <a:p>
            <a:pPr marL="228600" indent="-292608">
              <a:spcAft>
                <a:spcPts val="200"/>
              </a:spcAft>
              <a:buAutoNum type="arabicPeriod" startAt="13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Sample Outputs and Demonstration</a:t>
            </a:r>
          </a:p>
          <a:p>
            <a:pPr marL="228600" indent="-292608">
              <a:spcAft>
                <a:spcPts val="200"/>
              </a:spcAft>
              <a:buAutoNum type="arabicPeriod" startAt="14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Challenges and Limitations</a:t>
            </a:r>
          </a:p>
          <a:p>
            <a:pPr marL="228600" indent="-292608">
              <a:spcAft>
                <a:spcPts val="200"/>
              </a:spcAft>
              <a:buAutoNum type="arabicPeriod" startAt="15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Conclusion and Future Scope</a:t>
            </a:r>
          </a:p>
          <a:p>
            <a:pPr marL="228600" indent="-292608">
              <a:spcAft>
                <a:spcPts val="200"/>
              </a:spcAft>
              <a:buAutoNum type="arabicPeriod" startAt="16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Literature Survey Summary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05840"/>
          <a:ext cx="6675120" cy="5029200"/>
        </p:xfrm>
        <a:graphic>
          <a:graphicData uri="http://schemas.openxmlformats.org/drawingml/2006/table">
            <a:tbl>
              <a:tblPr/>
              <a:tblGrid>
                <a:gridCol w="384048"/>
                <a:gridCol w="822960"/>
                <a:gridCol w="1234440"/>
                <a:gridCol w="1325880"/>
                <a:gridCol w="1371600"/>
                <a:gridCol w="153619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Times New Roman"/>
                        </a:rPr>
                        <a:t>Ref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Times New Roman"/>
                        </a:rPr>
                        <a:t>Author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Times New Roman"/>
                        </a:rPr>
                        <a:t>Problem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Times New Roman"/>
                        </a:rPr>
                        <a:t>Dataset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Times New Roman"/>
                        </a:rPr>
                        <a:t>Limitation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[1]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Nath et al., 2025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Layout parsing of Indian-language pages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IndicDLP: 119,806 pages, 12 languages, 42 labels incl. questions and options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Benchmark of YOLOv10x, DocLayout-YOLO, RoDLA, DINO, DiT, Florence-2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Detects regions only; nobody uses the question labels to check papers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[2]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Kasuba et al., 2025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Page-level handwritten Indic text recognition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CHIPS, ~25K pages, 10 languages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DBNet word detection + 6 recognisers (CRNN, PARSeq, ...)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User must name the language; text only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[3]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Mondal et al., 2026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Multilingual table detection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UniTabBank: 55K pages, 82K tables, 28 languages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Semi-automatic labelling; YOLOv11 detector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Borderless tables and degraded scans fail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[4]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Pal et al., 2024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Table question answering, low-resource Indic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BanglaTabQA 2M, HindiTabQA 643K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SQL-generated QA; fine-tuned mBART / M2M / Llama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Wikipedia tables only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[5]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Xu et al., 2021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Multilingual document understanding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30M docs; XFUND, 7 languages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LayoutXLM: text + layout + image transformer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No Indian language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[6]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Kasuba et al., 2025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Grounding answers on the page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MGVG: 70 circulars, 509 QA pairs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OCR + Llama-3.1-8B + region matching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OCR-dependent; single page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[7]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Bhattacharyya et al., 2025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Hindi OCR with vision-language models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1.1M printed Hindi words + pages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LoRA-tuned GOT-OCR 2.0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Hindi only; mixed-language lines are hard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[8]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Dumada &amp; Shah, 2026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Devanagari table extraction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500+ Devanagari documents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Structure + Tesseract content, weighted fusion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No ablation; self-reported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[9]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Babayeva et al., 2025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Translating a test into other languages with an LLM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Force Concept Inventory, many languages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GPT-4o translation + back-translation + human review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Every item still checked by hand; no page structure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[10]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Rei et al., 2022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Translation quality estimation without a reference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WMT 2022 QE shared task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CometKiwi: multilingual encoder predicts quality per sentence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Times New Roman"/>
                        </a:rPr>
                        <a:t>Plain sentences: no question numbers, options or marks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Research Gaps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51560"/>
          <a:ext cx="6675120" cy="34290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315468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Times New Roman"/>
                        </a:rPr>
                        <a:t>#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Times New Roman"/>
                        </a:rPr>
                        <a:t>Gap in existing work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Times New Roman"/>
                        </a:rPr>
                        <a:t>How this project addresses it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G1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Exam papers are translated into up to 13 languages and vetted only by hand; errors reach candidates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An automatic pre-print check of every language version against the source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G2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Translation-quality tools [9, 10] read plain sentences: blind to question numbers, options, marks, figures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Compare versions question by question using the page layout itself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G3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Indic layout models [1] detect questions and options, but this is not used to check papers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Use the detector's question / option regions (AP@50 0.81–0.90) as the backbone of the checker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G4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Indic OCR misreads Latin digits in mixed text [7]; a checker of numbers needs every digit right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A "number pass": two OCR models must agree on every number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800600"/>
            <a:ext cx="6675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300"/>
              </a:spcAft>
              <a:buChar char="•"/>
            </a:pPr>
            <a:r>
              <a:rPr sz="1200" b="0">
                <a:solidFill>
                  <a:srgbClr val="000000"/>
                </a:solidFill>
                <a:latin typeface="Times New Roman"/>
              </a:rPr>
              <a:t>Court e-filing defect detection already exists (Supreme Court with IIT Madras; a commercial tool reported in 16 High Courts), so we chose the problem </a:t>
            </a:r>
            <a:r>
              <a:rPr sz="1200" b="1">
                <a:solidFill>
                  <a:srgbClr val="000000"/>
                </a:solidFill>
                <a:latin typeface="Times New Roman"/>
              </a:rPr>
              <a:t>nobody automates yet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: checking a question paper and its translations before printing.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Problem Statement and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6675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300"/>
              </a:spcAft>
              <a:buChar char="•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Problem:</a:t>
            </a:r>
            <a:r>
              <a:rPr sz="1250" b="0">
                <a:solidFill>
                  <a:srgbClr val="000000"/>
                </a:solidFill>
                <a:latin typeface="Times New Roman"/>
              </a:rPr>
              <a:t> a question paper is set in one language and translated into Hindi and regional languages; every version is checked by hand. When a number, option, mark or question differs, lakhs of candidates are affected (grace marks, re-exams, court cases).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Main objective:</a:t>
            </a:r>
            <a:r>
              <a:rPr sz="1250" b="0">
                <a:solidFill>
                  <a:srgbClr val="000000"/>
                </a:solidFill>
                <a:latin typeface="Times New Roman"/>
              </a:rPr>
              <a:t> an offline deep-learning system that reads a printed paper in any of 12 Indian languages and flags every structural or numerical error, and every difference from its source version, before printing.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Specific objectives:</a:t>
            </a:r>
          </a:p>
          <a:p>
            <a:pPr marL="502920" indent="-201168">
              <a:spcAft>
                <a:spcPts val="300"/>
              </a:spcAft>
              <a:buChar char="•"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Detect the paper's structure (questions, options, answers) with a layout detector; compare 3 detectors.</a:t>
            </a:r>
          </a:p>
          <a:p>
            <a:pPr marL="502920" indent="-201168">
              <a:spcAft>
                <a:spcPts val="300"/>
              </a:spcAft>
              <a:buChar char="•"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Read text with reliable numbers in 12 languages (number pass).</a:t>
            </a:r>
          </a:p>
          <a:p>
            <a:pPr marL="502920" indent="-201168">
              <a:spcAft>
                <a:spcPts val="300"/>
              </a:spcAft>
              <a:buChar char="•"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Checks: numbering, duplicates, options, marks, translation parity, repeats, format profiles.</a:t>
            </a:r>
          </a:p>
          <a:p>
            <a:pPr marL="502920" indent="-201168">
              <a:spcAft>
                <a:spcPts val="300"/>
              </a:spcAft>
              <a:buChar char="•"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Measure errors found and false alarms on a benchmark; ship a web app and API in Docker.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Times New Roman"/>
              </a:rPr>
              <a:t> 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Expected output:</a:t>
            </a:r>
            <a:r>
              <a:rPr sz="1250" b="0">
                <a:solidFill>
                  <a:srgbClr val="000000"/>
                </a:solidFill>
                <a:latin typeface="Times New Roman"/>
              </a:rPr>
              <a:t> a verdict (ready / check / do not print) and every finding with its question and page, outlined on the page, as HTML and JSON.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Times New Roman"/>
              </a:rPr>
              <a:t>It has already happened (news reports)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6309360"/>
          <a:ext cx="6675120" cy="1975104"/>
        </p:xfrm>
        <a:graphic>
          <a:graphicData uri="http://schemas.openxmlformats.org/drawingml/2006/table">
            <a:tbl>
              <a:tblPr/>
              <a:tblGrid>
                <a:gridCol w="1645920"/>
                <a:gridCol w="502920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Exam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What went wrong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NEET-UG 2018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49 questions wrong in the Tamil version; HC ordered 196 grace marks, SC set it aside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KPSC KAS 2024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59 errors in the Kannada paper; re-exam for ~2 lakh candidates, errors again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APPSC Group-I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51 of 120 questions alleged mistranslated into Telugu; SC notice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UGC-NET Jun 2026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Translation errors + questions repeated from old papers; re-test 9–10 Sep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MBBS (NTRUHS) 2026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The same MCQ printed twice; AP HC ordered a compensatory mark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Proposed System, Methodology and 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6675120" cy="822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300"/>
              </a:spcAft>
              <a:buChar char="•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Proposed solution:</a:t>
            </a:r>
            <a:r>
              <a:rPr sz="1250" b="0">
                <a:solidFill>
                  <a:srgbClr val="000000"/>
                </a:solidFill>
                <a:latin typeface="Times New Roman"/>
              </a:rPr>
              <a:t> IndicDoc Verify reads the paper as it will be printed, finds its structure with a deep-learning layout detector, reads the text, and checks it alone and against its source version.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Workflow (input to output):</a:t>
            </a:r>
          </a:p>
          <a:p>
            <a:pPr marL="228600" indent="-292608">
              <a:spcAft>
                <a:spcPts val="300"/>
              </a:spcAft>
              <a:buAutoNum type="arabicPeriod" startAt="1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Paper in:</a:t>
            </a:r>
            <a:r>
              <a:rPr sz="1250" b="0">
                <a:solidFill>
                  <a:srgbClr val="000000"/>
                </a:solidFill>
                <a:latin typeface="Times New Roman"/>
              </a:rPr>
              <a:t> PDF / scans + source version</a:t>
            </a:r>
          </a:p>
          <a:p>
            <a:pPr marL="228600" indent="-292608">
              <a:spcAft>
                <a:spcPts val="300"/>
              </a:spcAft>
              <a:buAutoNum type="arabicPeriod" startAt="2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Find structure:</a:t>
            </a:r>
            <a:r>
              <a:rPr sz="1250" b="0">
                <a:solidFill>
                  <a:srgbClr val="000000"/>
                </a:solidFill>
                <a:latin typeface="Times New Roman"/>
              </a:rPr>
              <a:t> DocLayout-YOLO: questions, options</a:t>
            </a:r>
          </a:p>
          <a:p>
            <a:pPr marL="228600" indent="-292608">
              <a:spcAft>
                <a:spcPts val="300"/>
              </a:spcAft>
              <a:buAutoNum type="arabicPeriod" startAt="3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Read text:</a:t>
            </a:r>
            <a:r>
              <a:rPr sz="1250" b="0">
                <a:solidFill>
                  <a:srgbClr val="000000"/>
                </a:solidFill>
                <a:latin typeface="Times New Roman"/>
              </a:rPr>
              <a:t> Indic OCR + English number pass</a:t>
            </a:r>
          </a:p>
          <a:p>
            <a:pPr marL="228600" indent="-292608">
              <a:spcAft>
                <a:spcPts val="300"/>
              </a:spcAft>
              <a:buAutoNum type="arabicPeriod" startAt="4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Build questions:</a:t>
            </a:r>
            <a:r>
              <a:rPr sz="1250" b="0">
                <a:solidFill>
                  <a:srgbClr val="000000"/>
                </a:solidFill>
                <a:latin typeface="Times New Roman"/>
              </a:rPr>
              <a:t> number, stem, options, marks, figures</a:t>
            </a:r>
          </a:p>
          <a:p>
            <a:pPr marL="228600" indent="-292608">
              <a:spcAft>
                <a:spcPts val="300"/>
              </a:spcAft>
              <a:buAutoNum type="arabicPeriod" startAt="5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Check:</a:t>
            </a:r>
            <a:r>
              <a:rPr sz="1250" b="0">
                <a:solidFill>
                  <a:srgbClr val="000000"/>
                </a:solidFill>
                <a:latin typeface="Times New Roman"/>
              </a:rPr>
              <a:t> structure, parity, repeats, format</a:t>
            </a:r>
          </a:p>
          <a:p>
            <a:pPr marL="228600" indent="-292608">
              <a:spcAft>
                <a:spcPts val="300"/>
              </a:spcAft>
              <a:buAutoNum type="arabicPeriod" startAt="6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Report:</a:t>
            </a:r>
            <a:r>
              <a:rPr sz="1250" b="0">
                <a:solidFill>
                  <a:srgbClr val="000000"/>
                </a:solidFill>
                <a:latin typeface="Times New Roman"/>
              </a:rPr>
              <a:t> verdict + findings on the page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How deep learning is used:</a:t>
            </a:r>
            <a:r>
              <a:rPr sz="1250" b="0">
                <a:solidFill>
                  <a:srgbClr val="000000"/>
                </a:solidFill>
                <a:latin typeface="Times New Roman"/>
              </a:rPr>
              <a:t> a convolutional object detector (DocLayout-YOLO) finds every question, sub-question, option and answer on the page (AP@50 0.81–0.90 on these labels); its regions turn a page image into structured questions in any script.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Times New Roman"/>
              </a:rPr>
              <a:t> 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50" b="1">
                <a:solidFill>
                  <a:srgbClr val="000000"/>
                </a:solidFill>
                <a:latin typeface="Times New Roman"/>
              </a:rPr>
              <a:t>What is different (novelty):</a:t>
            </a:r>
          </a:p>
          <a:p>
            <a:pPr marL="502920" indent="-201168">
              <a:spcAft>
                <a:spcPts val="300"/>
              </a:spcAft>
              <a:buChar char="•"/>
            </a:pPr>
            <a:r>
              <a:rPr sz="1100" b="1">
                <a:solidFill>
                  <a:srgbClr val="000000"/>
                </a:solidFill>
                <a:latin typeface="Times New Roman"/>
              </a:rPr>
              <a:t>Translation parity without translation:</a:t>
            </a:r>
            <a:r>
              <a:rPr sz="1100" b="0">
                <a:solidFill>
                  <a:srgbClr val="000000"/>
                </a:solidFill>
                <a:latin typeface="Times New Roman"/>
              </a:rPr>
              <a:t> numbers, option counts, marks, sub-questions and figures must match in every language, so versions are compared question by question with no MT model.</a:t>
            </a:r>
          </a:p>
          <a:p>
            <a:pPr marL="502920" indent="-201168">
              <a:spcAft>
                <a:spcPts val="300"/>
              </a:spcAft>
              <a:buChar char="•"/>
            </a:pPr>
            <a:r>
              <a:rPr sz="1100" b="1">
                <a:solidFill>
                  <a:srgbClr val="000000"/>
                </a:solidFill>
                <a:latin typeface="Times New Roman"/>
              </a:rPr>
              <a:t>Number pass:</a:t>
            </a:r>
            <a:r>
              <a:rPr sz="1100" b="0">
                <a:solidFill>
                  <a:srgbClr val="000000"/>
                </a:solidFill>
                <a:latin typeface="Times New Roman"/>
              </a:rPr>
              <a:t> two OCR models must agree on every digit.</a:t>
            </a:r>
          </a:p>
          <a:p>
            <a:pPr marL="502920" indent="-201168">
              <a:spcAft>
                <a:spcPts val="300"/>
              </a:spcAft>
              <a:buChar char="•"/>
            </a:pPr>
            <a:r>
              <a:rPr sz="1100" b="1">
                <a:solidFill>
                  <a:srgbClr val="000000"/>
                </a:solidFill>
                <a:latin typeface="Times New Roman"/>
              </a:rPr>
              <a:t>USP:</a:t>
            </a:r>
            <a:r>
              <a:rPr sz="1100" b="0">
                <a:solidFill>
                  <a:srgbClr val="000000"/>
                </a:solidFill>
                <a:latin typeface="Times New Roman"/>
              </a:rPr>
              <a:t> no tool we found checks an Indian question paper against its translations question by question; this runs offline, in 12 languages, before printing.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System Block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300"/>
              </a:spcAft>
              <a:buChar char="•"/>
            </a:pPr>
            <a:r>
              <a:rPr sz="1250" b="0">
                <a:solidFill>
                  <a:srgbClr val="000000"/>
                </a:solidFill>
                <a:latin typeface="Times New Roman"/>
              </a:rPr>
              <a:t>Major components and the flow of data through the system (top to bottom).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Times New Roman"/>
              </a:rPr>
              <a:t>USER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417320" y="160020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Streamlit app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Verify Paper tab</a:t>
            </a:r>
          </a:p>
        </p:txBody>
      </p:sp>
      <p:sp>
        <p:nvSpPr>
          <p:cNvPr id="6" name="Rectangle 5"/>
          <p:cNvSpPr/>
          <p:nvPr/>
        </p:nvSpPr>
        <p:spPr>
          <a:xfrm>
            <a:off x="3410712" y="160020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REST API (FastAPI)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POST /verify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46120" y="2034540"/>
            <a:ext cx="164592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404104" y="160020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Docker, offline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papers never leave the exam body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239512" y="2034540"/>
            <a:ext cx="164592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325112" y="2468880"/>
            <a:ext cx="0" cy="41148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28803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Times New Roman"/>
              </a:rPr>
              <a:t>INPUT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288036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Render pages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PDF at 200 dpi / images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0712" y="288036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Source version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optional, 12 languages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46120" y="3314700"/>
            <a:ext cx="164592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404104" y="288036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Question bank, profile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earlier papers; JSON rules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239512" y="3314700"/>
            <a:ext cx="164592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25112" y="3749039"/>
            <a:ext cx="0" cy="411481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16052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Times New Roman"/>
              </a:rPr>
              <a:t>DEEP LEARNING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17320" y="4160520"/>
            <a:ext cx="1828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Layout detector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DocLayout-YOLO / YOLOv8s / Faster R-CNN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10712" y="4160520"/>
            <a:ext cx="1828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Post-process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high-recall threshold, duplicates removed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6120" y="4594859"/>
            <a:ext cx="164592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404104" y="4160520"/>
            <a:ext cx="1828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Question regions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questions, options, answers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239512" y="4594859"/>
            <a:ext cx="164592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325112" y="5029200"/>
            <a:ext cx="0" cy="41148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5440679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Times New Roman"/>
              </a:rPr>
              <a:t>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17320" y="5440679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Indic OCR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Tesseract, page's own script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10712" y="5440679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Number pass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English model, digits agree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46120" y="5875019"/>
            <a:ext cx="164592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404104" y="5440679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Build questions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number, stem, options, marks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239512" y="5875019"/>
            <a:ext cx="164592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325112" y="6309359"/>
            <a:ext cx="0" cy="411481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72084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Times New Roman"/>
              </a:rPr>
              <a:t>CHECKS AND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17320" y="672084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Structure, repeats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numbering, duplicates, marks, bank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10712" y="672084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Translation parity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align versions; compare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246120" y="7155179"/>
            <a:ext cx="164592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404104" y="672084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Report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verdict, findings on pages; HTML / JSON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239512" y="7155179"/>
            <a:ext cx="164592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804672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000000"/>
                </a:solidFill>
                <a:latin typeface="Times New Roman"/>
              </a:rPr>
              <a:t>Grey: deep-learning stage. The source version takes the same path as the paper.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Dataset Description and Pre-processing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6675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Dataset name and source: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IndicDLP (Nath et al., ICDAR 2025), Hugging Face ai4bharat/indicdlp, AIKosh; 119,806 pages, 12 languages, 12 domains, 42 layout labels.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Samples and classes (our subset):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3,317 pages, 49,995 boxes, 42 classes; 195 question-paper pages, 1,227 question and 1,209 option boxes.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Split (official):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train 2,293 / validation 342 / test 682 pages.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Verification benchmark: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132 English–Hindi and English–Tamil paper pairs (18 questions each), 108 with one injected error of 9 real kinds, 24 clean; half degraded like scans. A separate development set (48 pairs) was used to build the parser.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Pre-processing: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Parquet → PNG + COCO JSON, boxes clipped, COCO → YOLO labels, letterbox 640 / 1024 px; PDF pages rendered at 200 dpi.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Augmentation: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YOLOv8 mosaic, HSV, scale; Faster R-CNN colour jitter, blur; no mirror flips.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Challenges: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class imbalance ("paragraph" ≈ 32% of boxes); no public set of erroneous exam papers, hence the benchmark.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8076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Times New Roman"/>
              </a:rPr>
              <a:t>Actual data used</a:t>
            </a:r>
          </a:p>
        </p:txBody>
      </p:sp>
      <p:pic>
        <p:nvPicPr>
          <p:cNvPr id="5" name="Picture 4" descr="bench_en_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0"/>
            <a:ext cx="2067089" cy="2926080"/>
          </a:xfrm>
          <a:prstGeom prst="rect">
            <a:avLst/>
          </a:prstGeom>
          <a:ln w="6350">
            <a:solidFill>
              <a:srgbClr val="00000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02920" y="9372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00000"/>
                </a:solidFill>
                <a:latin typeface="Times New Roman"/>
              </a:rPr>
              <a:t>Benchmark: English source</a:t>
            </a:r>
          </a:p>
        </p:txBody>
      </p:sp>
      <p:pic>
        <p:nvPicPr>
          <p:cNvPr id="7" name="Picture 6" descr="bench_hi_b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6400800"/>
            <a:ext cx="2067089" cy="2926080"/>
          </a:xfrm>
          <a:prstGeom prst="rect">
            <a:avLst/>
          </a:prstGeom>
          <a:ln w="6350">
            <a:solidFill>
              <a:srgbClr val="00000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743200" y="9372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00000"/>
                </a:solidFill>
                <a:latin typeface="Times New Roman"/>
              </a:rPr>
              <a:t>Benchmark: Hindi version</a:t>
            </a:r>
          </a:p>
        </p:txBody>
      </p:sp>
      <p:pic>
        <p:nvPicPr>
          <p:cNvPr id="9" name="Picture 8" descr="hindi_newspapers_b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6400800"/>
            <a:ext cx="1841180" cy="2926080"/>
          </a:xfrm>
          <a:prstGeom prst="rect">
            <a:avLst/>
          </a:prstGeom>
          <a:ln w="6350">
            <a:solidFill>
              <a:srgbClr val="00000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983480" y="9372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00000"/>
                </a:solidFill>
                <a:latin typeface="Times New Roman"/>
              </a:rPr>
              <a:t>IndicDLP: Hindi newspaper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Deep Learning 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6675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Model selected: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DocLayout-YOLO (20.0 M parameters), fine-tuned on the full IndicDLP by its authors (pretrained, transfer learning); compared with YOLOv8s and Faster R-CNN fine-tuned by us.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Input / output: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a page image (1024×1024×3 for DocLayout-YOLO, 640×640×3 for YOLOv8s) → N boxes, each with one of 42 labels and a score.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Modifications: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COCO heads replaced by 42-class heads (43 with background for Faster R-CNN); losses CIoU + DFL + BCE (YOLO), RPN + CE + smooth-L1 (Faster R-CNN).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6675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00000"/>
                </a:solidFill>
                <a:latin typeface="Times New Roman"/>
              </a:rPr>
              <a:t>DocLayout-YOLO, 20.0 M (used by IndicDoc Verify)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279392"/>
            <a:ext cx="1143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Input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1024²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9384" y="4279392"/>
            <a:ext cx="1143000" cy="82296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Backbone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CSP + GL-CRM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691639" y="4690872"/>
            <a:ext cx="237745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310128" y="4279392"/>
            <a:ext cx="1143000" cy="82296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Neck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PAN, 3 scales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72384" y="4690872"/>
            <a:ext cx="237744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690872" y="4279392"/>
            <a:ext cx="1143000" cy="82296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Head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YOLOv10, NMS-free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53128" y="4690872"/>
            <a:ext cx="237744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071616" y="4279392"/>
            <a:ext cx="1143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Output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boxes, 42 classes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33872" y="4690872"/>
            <a:ext cx="237744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5532120"/>
            <a:ext cx="6675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00000"/>
                </a:solidFill>
                <a:latin typeface="Times New Roman"/>
              </a:rPr>
              <a:t>YOLOv8s, 11.2 M (fine-tuned by us)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879592"/>
            <a:ext cx="1143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Input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640² page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9384" y="5879592"/>
            <a:ext cx="1143000" cy="82296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Backbone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CSPDarknet C2f + SPPF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91639" y="6291072"/>
            <a:ext cx="237745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10128" y="5879592"/>
            <a:ext cx="1143000" cy="82296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Neck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PAN-FPN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072384" y="6291072"/>
            <a:ext cx="237744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690872" y="5879592"/>
            <a:ext cx="1143000" cy="82296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Head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decoupled, anchor-free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53128" y="6291072"/>
            <a:ext cx="237744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071616" y="5879592"/>
            <a:ext cx="1143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Output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boxes, 42 classes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33872" y="6291072"/>
            <a:ext cx="237744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7132320"/>
            <a:ext cx="6675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00000"/>
                </a:solidFill>
                <a:latin typeface="Times New Roman"/>
              </a:rPr>
              <a:t>Faster R-CNN, 41.5 M (baseline)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7479792"/>
            <a:ext cx="1143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Input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640–1024 px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9384" y="7479792"/>
            <a:ext cx="1143000" cy="82296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Backbone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ResNet-50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691639" y="7891271"/>
            <a:ext cx="237745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310128" y="7479792"/>
            <a:ext cx="1143000" cy="82296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Neck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FPN, 5 levels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72384" y="7891271"/>
            <a:ext cx="237744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4690872" y="7479792"/>
            <a:ext cx="1143000" cy="82296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RPN + RoIAlign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proposals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453128" y="7891271"/>
            <a:ext cx="237744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071616" y="7479792"/>
            <a:ext cx="1143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</a:rPr>
              <a:t>Box head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Times New Roman"/>
              </a:rPr>
              <a:t>42 + background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33872" y="7891271"/>
            <a:ext cx="237744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859536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000000"/>
                </a:solidFill>
                <a:latin typeface="Times New Roman"/>
              </a:rPr>
              <a:t>Grey: learned feature extraction and detection layers.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Tools, Technologies and Environment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51560"/>
          <a:ext cx="6675120" cy="5486400"/>
        </p:xfrm>
        <a:graphic>
          <a:graphicData uri="http://schemas.openxmlformats.org/drawingml/2006/table">
            <a:tbl>
              <a:tblPr/>
              <a:tblGrid>
                <a:gridCol w="1920240"/>
                <a:gridCol w="475488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Times New Roman"/>
                        </a:rPr>
                        <a:t>Component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Times New Roman"/>
                        </a:rPr>
                        <a:t>Details to report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Programming language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3.11 (ML, checks, app, API); JavaScript (Node) for the benchmark renderer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DL framework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PyTorch 2 with torchvision; Ultralytics 8 (YOLOv8); doclayout-yolo 0.0.4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Development environment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VS Code / terminal, Git + GitHub, pytest (unit tests for every check)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Libraries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pycocotools, OpenCV, Pillow, NumPy, pandas, Matplotlib, PyMuPDF; Tesseract 5 (tessdata_best, 12 scripts); tesseract.js for the benchmark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Hardware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Apple M1 Pro GPU via PyTorch MPS (training, evaluation); CPU container for the benchmark; CPU in Docker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Dataset tools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Hugging Face Hub + fsspec (partial Parquet reads); COCO / YOLO converters; Playwright + Noto fonts to render benchmark papers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Interface / deployment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Times New Roman"/>
                        </a:rPr>
                        <a:t>Streamlit app (Verify Paper tab) + FastAPI (/verify); Docker + docker-compose, offline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Implementation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6675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What we implemented: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IndicDoc Verify (ml/verify), the OCR stage with the number pass (ml/ocr), training and evaluation of two detectors, the benchmark, a Streamlit app and a REST API in Docker.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Data loading: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IndicDLP Parquet → COCO; PDFs rendered at 200 dpi (PyMuPDF).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Model: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pretrained DocLayout-YOLO at its high-recall threshold (0.15); YOLOv8s and Faster R-CNN fine-tuned from COCO weights.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Loss / optimiser: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YOLOv8s CIoU + DFL + BCE, auto optimiser; Faster R-CNN SGD, lr 0.005, batch 4.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Inference: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layout → OCR per region → question building → checks → report.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Checks: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numbering, duplicates, options, marks; translation parity by Needleman–Wunsch alignment; repeats by character 3-gram similarity; JSON format profiles.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Interface: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Streamlit "Verify Paper" tab and POST /verify (JSON or HTML report).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5532120"/>
            <a:ext cx="667512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950" b="0">
                <a:solidFill>
                  <a:srgbClr val="000000"/>
                </a:solidFill>
                <a:latin typeface="Courier New"/>
              </a:rPr>
              <a:t># every page: layout (DL) -&gt; OCR with number pass</a:t>
            </a:r>
          </a:p>
          <a:p>
            <a:pPr algn="l"/>
            <a:r>
              <a:rPr sz="950" b="0">
                <a:solidFill>
                  <a:srgbClr val="000000"/>
                </a:solidFill>
                <a:latin typeface="Courier New"/>
              </a:rPr>
              <a:t>out = predict_single(model, page, "doclayout", device, conf=0.15)</a:t>
            </a:r>
          </a:p>
          <a:p>
            <a:pPr algn="l"/>
            <a:r>
              <a:rPr sz="950" b="0">
                <a:solidFill>
                  <a:srgbClr val="000000"/>
                </a:solidFill>
                <a:latin typeface="Courier New"/>
              </a:rPr>
              <a:t>doc = extract_document(page, out, "hin", number_pass=True)</a:t>
            </a:r>
          </a:p>
          <a:p>
            <a:pPr algn="l"/>
            <a:r>
              <a:rPr sz="950" b="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950" b="0">
                <a:solidFill>
                  <a:srgbClr val="000000"/>
                </a:solidFill>
                <a:latin typeface="Courier New"/>
              </a:rPr>
              <a:t># ml/verify: questions, checks, parity, repeats</a:t>
            </a:r>
          </a:p>
          <a:p>
            <a:pPr algn="l"/>
            <a:r>
              <a:rPr sz="950" b="0">
                <a:solidFill>
                  <a:srgbClr val="000000"/>
                </a:solidFill>
                <a:latin typeface="Courier New"/>
              </a:rPr>
              <a:t>report = verify(hindi_pages, source_pages=english_pages,</a:t>
            </a:r>
          </a:p>
          <a:p>
            <a:pPr algn="l"/>
            <a:r>
              <a:rPr sz="950" b="0">
                <a:solidFill>
                  <a:srgbClr val="000000"/>
                </a:solidFill>
                <a:latin typeface="Courier New"/>
              </a:rPr>
              <a:t>                bank=earlier_questions, profile="question_paper")</a:t>
            </a:r>
          </a:p>
          <a:p>
            <a:pPr algn="l"/>
            <a:r>
              <a:rPr sz="950" b="0">
                <a:solidFill>
                  <a:srgbClr val="000000"/>
                </a:solidFill>
                <a:latin typeface="Courier New"/>
              </a:rPr>
              <a:t>html = to_html(report, {"paper": page_images})</a:t>
            </a:r>
          </a:p>
        </p:txBody>
      </p:sp>
      <p:pic>
        <p:nvPicPr>
          <p:cNvPr id="5" name="Picture 4" descr="07_verify_report_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7269480"/>
            <a:ext cx="3108960" cy="2185988"/>
          </a:xfrm>
          <a:prstGeom prst="rect">
            <a:avLst/>
          </a:prstGeom>
          <a:ln w="6350">
            <a:solidFill>
              <a:srgbClr val="00000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40279" y="94829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000000"/>
                </a:solidFill>
                <a:latin typeface="Times New Roman"/>
              </a:rPr>
              <a:t>Verification report produced by the system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Experimental Setup and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6675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Dataset sizes: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train 2,293 / validation 342 / test 682 pages; benchmark 132 paper pairs (test) + 48 (development).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Configuration: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Faster R-CNN batch 4, SGD 0.005, </a:t>
            </a:r>
            <a:r>
              <a:rPr sz="1200" b="1">
                <a:solidFill>
                  <a:srgbClr val="000000"/>
                </a:solidFill>
                <a:latin typeface="Times New Roman"/>
              </a:rPr>
              <a:t>2 epochs, 76 min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; YOLOv8s 640 px, batch 8, </a:t>
            </a:r>
            <a:r>
              <a:rPr sz="1200" b="1">
                <a:solidFill>
                  <a:srgbClr val="000000"/>
                </a:solidFill>
                <a:latin typeface="Times New Roman"/>
              </a:rPr>
              <a:t>12 epochs, 60 min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; Apple M1 Pro GPU (PyTorch MPS).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E1 Layout: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3 detectors on 682 test pages: mAP@50, mAP@50:95, P / R / F1, per label.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E2 Robustness: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blur, noise, JPEG, half resolution, faded print.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E3 Verification: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injected errors, real Tesseract OCR; an error counts only if found at the right question.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E4 Ablations: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without the number pass; without layout-based options; with a noisy layout.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Protocol: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 parser built on the development set; test set run once.</a:t>
            </a:r>
          </a:p>
        </p:txBody>
      </p:sp>
      <p:pic>
        <p:nvPicPr>
          <p:cNvPr id="4" name="Picture 3" descr="fig_training_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943600"/>
            <a:ext cx="6675120" cy="2085975"/>
          </a:xfrm>
          <a:prstGeom prst="rect">
            <a:avLst/>
          </a:prstGeom>
          <a:ln w="6350">
            <a:solidFill>
              <a:srgbClr val="00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805700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000000"/>
                </a:solidFill>
                <a:latin typeface="Times New Roman"/>
              </a:rPr>
              <a:t>Training and validation curves of the two detectors we trained (measured).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Results and Performance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Times New Roman"/>
              </a:rPr>
              <a:t>Layout detection (682 test pages)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6675120" cy="1170432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1005840"/>
                <a:gridCol w="914400"/>
                <a:gridCol w="868680"/>
                <a:gridCol w="8686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Model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mAP@50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mAP@50:95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Precision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Recall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F1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DocLayout-YOLO (authors)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0.759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0.575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0.848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0.775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0.810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YOLOv8s (ours)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0.259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0.165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0.603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0.508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0.551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Faster R-CNN (ours)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0.148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0.079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0.510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0.435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0.469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260604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Times New Roman"/>
              </a:rPr>
              <a:t>AP@50 on question-paper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926080"/>
          <a:ext cx="6675120" cy="164592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1463040"/>
                <a:gridCol w="146304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Label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DocLayout-YOLO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YOLOv8s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Faster R-CNN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first-level-question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0.854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0.415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0.240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second-level-question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0.898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0.045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0.018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third-level-question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0.872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0.026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0.000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options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0.839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0.553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0.243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answer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0.809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0.000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0.000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09160"/>
            <a:ext cx="6675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300"/>
              </a:spcAft>
              <a:buChar char="•"/>
            </a:pPr>
            <a:r>
              <a:rPr sz="1150" b="1">
                <a:solidFill>
                  <a:srgbClr val="000000"/>
                </a:solidFill>
                <a:latin typeface="Times New Roman"/>
              </a:rPr>
              <a:t>Verification:</a:t>
            </a:r>
            <a:r>
              <a:rPr sz="1150" b="0">
                <a:solidFill>
                  <a:srgbClr val="000000"/>
                </a:solidFill>
                <a:latin typeface="Times New Roman"/>
              </a:rPr>
              <a:t> 98% of injected errors found at the right question on born-digital papers, 98% on scan-degraded pages.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150" b="1">
                <a:solidFill>
                  <a:srgbClr val="000000"/>
                </a:solidFill>
                <a:latin typeface="Times New Roman"/>
              </a:rPr>
              <a:t>False alarms:</a:t>
            </a:r>
            <a:r>
              <a:rPr sz="1150" b="0">
                <a:solidFill>
                  <a:srgbClr val="000000"/>
                </a:solidFill>
                <a:latin typeface="Times New Roman"/>
              </a:rPr>
              <a:t> 3.0 per clean pair (born-digital), 5.5 (degraded); each is shown on the page for the vetter.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150" b="1">
                <a:solidFill>
                  <a:srgbClr val="000000"/>
                </a:solidFill>
                <a:latin typeface="Times New Roman"/>
              </a:rPr>
              <a:t>Robust:</a:t>
            </a:r>
            <a:r>
              <a:rPr sz="1150" b="0">
                <a:solidFill>
                  <a:srgbClr val="000000"/>
                </a:solidFill>
                <a:latin typeface="Times New Roman"/>
              </a:rPr>
              <a:t> 98% still found with a noisy layout; 132/132 papers had every question recovered.</a:t>
            </a:r>
          </a:p>
        </p:txBody>
      </p:sp>
      <p:pic>
        <p:nvPicPr>
          <p:cNvPr id="8" name="Picture 7" descr="fig_verify_by_type_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6355080"/>
            <a:ext cx="4846320" cy="2554142"/>
          </a:xfrm>
          <a:prstGeom prst="rect">
            <a:avLst/>
          </a:prstGeom>
          <a:ln w="6350">
            <a:solidFill>
              <a:srgbClr val="00000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371600" y="893665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000000"/>
                </a:solidFill>
                <a:latin typeface="Times New Roman"/>
              </a:rPr>
              <a:t>Errors found at the right question, per error type.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Comparison with Baseline / Existing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Times New Roman"/>
              </a:rPr>
              <a:t>Layout detectors (metric: COCO mAP)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6675120" cy="1371600"/>
        </p:xfrm>
        <a:graphic>
          <a:graphicData uri="http://schemas.openxmlformats.org/drawingml/2006/table">
            <a:tbl>
              <a:tblPr/>
              <a:tblGrid>
                <a:gridCol w="2377440"/>
                <a:gridCol w="1920240"/>
                <a:gridCol w="1188720"/>
                <a:gridCol w="118872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Detector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Training data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mAP@50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mAP@50:95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Faster R-CNN (ours, baseline)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2,293 pages, 76 min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0.148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0.079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YOLOv8s (ours)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2,293 pages, 60 min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0.259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0.165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DocLayout-YOLO (authors)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~96K pages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0.759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0.575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Published DocLayout-YOLO [1]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full test set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≈0.735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0.545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278892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Times New Roman"/>
              </a:rPr>
              <a:t>Verification ablation (test set)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08960"/>
          <a:ext cx="6675120" cy="1371600"/>
        </p:xfrm>
        <a:graphic>
          <a:graphicData uri="http://schemas.openxmlformats.org/drawingml/2006/table">
            <a:tbl>
              <a:tblPr/>
              <a:tblGrid>
                <a:gridCol w="3017520"/>
                <a:gridCol w="164592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System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Errors found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Times New Roman"/>
                        </a:rPr>
                        <a:t>False alarms / clean pair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Full system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98%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4.5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Without number pass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77%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13.8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Without layout-based options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98%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11.5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Noisy layout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98%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</a:rPr>
                        <a:t>7.5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7200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Times New Roman"/>
              </a:rPr>
              <a:t>Existing approaches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892040"/>
          <a:ext cx="6675120" cy="2304288"/>
        </p:xfrm>
        <a:graphic>
          <a:graphicData uri="http://schemas.openxmlformats.org/drawingml/2006/table">
            <a:tbl>
              <a:tblPr/>
              <a:tblGrid>
                <a:gridCol w="2286000"/>
                <a:gridCol w="1600200"/>
                <a:gridCol w="1417320"/>
                <a:gridCol w="13716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Approach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Checks the paper?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Compares versions?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Indic, offline?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Manual vetting (status quo)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yes, by hand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by hand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Answer-sheet AI (Eklavvya, GradeLab)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no, grades answers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partly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MT quality estimation (CometKiwi [10])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no structure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sentences only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cloud / GPU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LLM back-translation [9]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no structure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with human review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Times New Roman"/>
                        </a:rPr>
                        <a:t>cloud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IndicDoc Verify (ours)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numbering, options, marks, repeats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question by question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 languages, offline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9525" cmpd="sng">
                      <a:solidFill>
                        <a:srgbClr val="000000"/>
                      </a:solidFill>
                    </a:lnL>
                    <a:lnR w="9525" cmpd="sng">
                      <a:solidFill>
                        <a:srgbClr val="000000"/>
                      </a:solidFill>
                    </a:lnR>
                    <a:lnT w="9525" cmpd="sng">
                      <a:solidFill>
                        <a:srgbClr val="000000"/>
                      </a:solidFill>
                    </a:lnT>
                    <a:lnB w="9525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7498079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300"/>
              </a:spcAft>
              <a:buChar char="•"/>
            </a:pPr>
            <a:r>
              <a:rPr sz="1150" b="0">
                <a:solidFill>
                  <a:srgbClr val="000000"/>
                </a:solidFill>
                <a:latin typeface="Times New Roman"/>
              </a:rPr>
              <a:t>YOLOv8s beats the Faster R-CNN baseline (0.259 vs 0.148 mAP@50) at 9× the speed; the released full-data model is best and is used.</a:t>
            </a:r>
          </a:p>
          <a:p>
            <a:pPr marL="228600" indent="-201168">
              <a:spcAft>
                <a:spcPts val="300"/>
              </a:spcAft>
              <a:buChar char="•"/>
            </a:pPr>
            <a:r>
              <a:rPr sz="1150" b="0">
                <a:solidFill>
                  <a:srgbClr val="000000"/>
                </a:solidFill>
                <a:latin typeface="Times New Roman"/>
              </a:rPr>
              <a:t>The number pass is the largest single gain: without it, errors found fall to 77% and false alarms triple.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Sample Outputs and Demonstration</a:t>
            </a:r>
          </a:p>
        </p:txBody>
      </p:sp>
      <p:pic>
        <p:nvPicPr>
          <p:cNvPr id="3" name="Picture 2" descr="08_verify_page_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5029200" cy="2738221"/>
          </a:xfrm>
          <a:prstGeom prst="rect">
            <a:avLst/>
          </a:prstGeom>
          <a:ln w="6350">
            <a:solidFill>
              <a:srgbClr val="000000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1280160" y="3771493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1">
                <a:solidFill>
                  <a:srgbClr val="000000"/>
                </a:solidFill>
                <a:latin typeface="Times New Roman"/>
              </a:rPr>
              <a:t>Correct:</a:t>
            </a:r>
            <a:r>
              <a:rPr sz="950" b="0" i="1">
                <a:solidFill>
                  <a:srgbClr val="000000"/>
                </a:solidFill>
                <a:latin typeface="Times New Roman"/>
              </a:rPr>
              <a:t> a changed number in the Hindi version found and outlined on the page.</a:t>
            </a:r>
          </a:p>
        </p:txBody>
      </p:sp>
      <p:pic>
        <p:nvPicPr>
          <p:cNvPr id="5" name="Picture 4" descr="09_false_alarm_b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155540"/>
            <a:ext cx="5029200" cy="1825481"/>
          </a:xfrm>
          <a:prstGeom prst="rect">
            <a:avLst/>
          </a:prstGeom>
          <a:ln w="6350">
            <a:solidFill>
              <a:srgbClr val="00000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280160" y="6008453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1">
                <a:solidFill>
                  <a:srgbClr val="000000"/>
                </a:solidFill>
                <a:latin typeface="Times New Roman"/>
              </a:rPr>
              <a:t>Incorrect:</a:t>
            </a:r>
            <a:r>
              <a:rPr sz="950" b="0" i="1">
                <a:solidFill>
                  <a:srgbClr val="000000"/>
                </a:solidFill>
                <a:latin typeface="Times New Roman"/>
              </a:rPr>
              <a:t> a false alarm on a degraded scan (OCR lost a digit of an option).</a:t>
            </a:r>
          </a:p>
        </p:txBody>
      </p:sp>
      <p:pic>
        <p:nvPicPr>
          <p:cNvPr id="7" name="Picture 6" descr="02_detection_tamil_b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8221"/>
            <a:ext cx="3246120" cy="2028825"/>
          </a:xfrm>
          <a:prstGeom prst="rect">
            <a:avLst/>
          </a:prstGeom>
          <a:ln w="6350">
            <a:solidFill>
              <a:srgbClr val="00000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849447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00000"/>
                </a:solidFill>
                <a:latin typeface="Times New Roman"/>
              </a:rPr>
              <a:t>Running application: layout regions of a Tamil page</a:t>
            </a:r>
          </a:p>
        </p:txBody>
      </p:sp>
      <p:pic>
        <p:nvPicPr>
          <p:cNvPr id="9" name="Picture 8" descr="authors_confusion_matrix_b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6438221"/>
            <a:ext cx="2849880" cy="2331720"/>
          </a:xfrm>
          <a:prstGeom prst="rect">
            <a:avLst/>
          </a:prstGeom>
          <a:ln w="6350">
            <a:solidFill>
              <a:srgbClr val="00000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43400" y="8797372"/>
            <a:ext cx="3032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00000"/>
                </a:solidFill>
                <a:latin typeface="Times New Roman"/>
              </a:rPr>
              <a:t>Confusion matrix of the layout model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Challenges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6675120" cy="73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1000"/>
              </a:spcAft>
              <a:buChar char="•"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OCR is the weakest link: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 Indic Tesseract models misread Latin digits ("1947" → "947") and glue option markers to values; the number pass, layout-based option splitting and page-level digit-script detection were needed to bring false alarms down.</a:t>
            </a:r>
          </a:p>
          <a:p>
            <a:pPr marL="228600" indent="-201168">
              <a:spcAft>
                <a:spcPts val="1000"/>
              </a:spcAft>
              <a:buChar char="•"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No public data of real errors: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 Exam bodies do not publish erroneous pre-print papers, so we built a benchmark with realistic injected errors, kept a separate development set, and report clean and scanned results separately.</a:t>
            </a:r>
          </a:p>
          <a:p>
            <a:pPr marL="228600" indent="-201168">
              <a:spcAft>
                <a:spcPts val="1000"/>
              </a:spcAft>
              <a:buChar char="•"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Meaning is not checked yet: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 Parity catches numbers, options, marks and missing questions without translation; a pure change of meaning needs a cross-lingual model (hook present, not yet evaluated).</a:t>
            </a:r>
          </a:p>
          <a:p>
            <a:pPr marL="228600" indent="-201168">
              <a:spcAft>
                <a:spcPts val="1000"/>
              </a:spcAft>
              <a:buChar char="•"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Compute and data size: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 Our detectors saw 2.3K pages for about an hour (0.26 vs 0.76 mAP@50 for the released model), so the product uses the released model; our contribution is the checker built on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Conclusion and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6675120" cy="822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600"/>
              </a:spcAft>
              <a:buChar char="•"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Conclusion</a:t>
            </a:r>
          </a:p>
          <a:p>
            <a:pPr marL="502920" indent="-201168">
              <a:spcAft>
                <a:spcPts val="600"/>
              </a:spcAft>
              <a:buChar char="•"/>
            </a:pPr>
            <a:r>
              <a:rPr sz="1150" b="1">
                <a:solidFill>
                  <a:srgbClr val="000000"/>
                </a:solidFill>
                <a:latin typeface="Times New Roman"/>
              </a:rPr>
              <a:t>Implemented:</a:t>
            </a:r>
            <a:r>
              <a:rPr sz="1150" b="0">
                <a:solidFill>
                  <a:srgbClr val="000000"/>
                </a:solidFill>
                <a:latin typeface="Times New Roman"/>
              </a:rPr>
              <a:t> IndicDoc Verify: layout detection (3 detectors compared), OCR for 12 scripts with a number pass, question parsing, structure / parity / repeat / format checks, report, web app, REST API, Docker.</a:t>
            </a:r>
          </a:p>
          <a:p>
            <a:pPr marL="502920" indent="-201168">
              <a:spcAft>
                <a:spcPts val="600"/>
              </a:spcAft>
              <a:buChar char="•"/>
            </a:pPr>
            <a:r>
              <a:rPr sz="1150" b="1">
                <a:solidFill>
                  <a:srgbClr val="000000"/>
                </a:solidFill>
                <a:latin typeface="Times New Roman"/>
              </a:rPr>
              <a:t>Results:</a:t>
            </a:r>
            <a:r>
              <a:rPr sz="1150" b="0">
                <a:solidFill>
                  <a:srgbClr val="000000"/>
                </a:solidFill>
                <a:latin typeface="Times New Roman"/>
              </a:rPr>
              <a:t> 98% of injected errors found at the right question on born-digital papers (98% on degraded scans), 3.0 false alarms per clean pair; best layout model 0.759 mAP@50.</a:t>
            </a:r>
          </a:p>
          <a:p>
            <a:pPr marL="502920" indent="-201168">
              <a:spcAft>
                <a:spcPts val="600"/>
              </a:spcAft>
              <a:buChar char="•"/>
            </a:pPr>
            <a:r>
              <a:rPr sz="1150" b="1">
                <a:solidFill>
                  <a:srgbClr val="000000"/>
                </a:solidFill>
                <a:latin typeface="Times New Roman"/>
              </a:rPr>
              <a:t>Objectives:</a:t>
            </a:r>
            <a:r>
              <a:rPr sz="1150" b="0">
                <a:solidFill>
                  <a:srgbClr val="000000"/>
                </a:solidFill>
                <a:latin typeface="Times New Roman"/>
              </a:rPr>
              <a:t> all four met; our own detectors did not reach the released model, which we report openly.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Times New Roman"/>
              </a:rPr>
              <a:t> </a:t>
            </a:r>
          </a:p>
          <a:p>
            <a:pPr marL="228600" indent="-201168">
              <a:spcAft>
                <a:spcPts val="600"/>
              </a:spcAft>
              <a:buChar char="•"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Future scope</a:t>
            </a:r>
          </a:p>
          <a:p>
            <a:pPr marL="502920" indent="-201168">
              <a:spcAft>
                <a:spcPts val="600"/>
              </a:spcAft>
              <a:buChar char="•"/>
            </a:pPr>
            <a:r>
              <a:rPr sz="1150" b="0">
                <a:solidFill>
                  <a:srgbClr val="000000"/>
                </a:solidFill>
                <a:latin typeface="Times New Roman"/>
              </a:rPr>
              <a:t>Pilot with a university exam cell or a state board on real pre-print papers.</a:t>
            </a:r>
          </a:p>
          <a:p>
            <a:pPr marL="502920" indent="-201168">
              <a:spcAft>
                <a:spcPts val="600"/>
              </a:spcAft>
              <a:buChar char="•"/>
            </a:pPr>
            <a:r>
              <a:rPr sz="1150" b="0">
                <a:solidFill>
                  <a:srgbClr val="000000"/>
                </a:solidFill>
                <a:latin typeface="Times New Roman"/>
              </a:rPr>
              <a:t>Meaning check with a cross-lingual sentence model; number words and formulas.</a:t>
            </a:r>
          </a:p>
          <a:p>
            <a:pPr marL="502920" indent="-201168">
              <a:spcAft>
                <a:spcPts val="600"/>
              </a:spcAft>
              <a:buChar char="•"/>
            </a:pPr>
            <a:r>
              <a:rPr sz="1150" b="0">
                <a:solidFill>
                  <a:srgbClr val="000000"/>
                </a:solidFill>
                <a:latin typeface="Times New Roman"/>
              </a:rPr>
              <a:t>Better Indic OCR behind the same interface; answer-key consistency check.</a:t>
            </a:r>
          </a:p>
          <a:p>
            <a:pPr marL="502920" indent="-201168">
              <a:spcAft>
                <a:spcPts val="600"/>
              </a:spcAft>
              <a:buChar char="•"/>
            </a:pPr>
            <a:r>
              <a:rPr sz="1150" b="0">
                <a:solidFill>
                  <a:srgbClr val="000000"/>
                </a:solidFill>
                <a:latin typeface="Times New Roman"/>
              </a:rPr>
              <a:t>More document profiles: bilingual government circulars (Official Languages Act s.3(3)), forms, certificates.</a:t>
            </a:r>
          </a:p>
          <a:p>
            <a:pPr marL="502920" indent="-201168">
              <a:spcAft>
                <a:spcPts val="600"/>
              </a:spcAft>
              <a:buChar char="•"/>
            </a:pPr>
            <a:r>
              <a:rPr sz="1150" b="0">
                <a:solidFill>
                  <a:srgbClr val="000000"/>
                </a:solidFill>
                <a:latin typeface="Times New Roman"/>
              </a:rPr>
              <a:t>Deployment: offline licence per exam body (NTA, UPSC, state PSCs, boards, universities).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  <a:latin typeface="Times New Roman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6675120" cy="6675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92608">
              <a:spcAft>
                <a:spcPts val="200"/>
              </a:spcAft>
              <a:buAutoNum type="arabicPeriod" startAt="1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O. Nath, S. Kukkala, M. Khapra, R. K. Sarvadevabhatla, "IndicDLP: A Foundational Dataset for Multi-Lingual and Multi-Domain Document Layout Parsing," ICDAR 2025.</a:t>
            </a:r>
          </a:p>
          <a:p>
            <a:pPr marL="228600" indent="-292608">
              <a:spcAft>
                <a:spcPts val="200"/>
              </a:spcAft>
              <a:buAutoNum type="arabicPeriod" startAt="2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B. V. Kasuba et al., "PLATTER: A Page-Level Handwritten Text Recognition System for Indic Scripts," arXiv:2502.06172, 2025.</a:t>
            </a:r>
          </a:p>
          <a:p>
            <a:pPr marL="228600" indent="-292608">
              <a:spcAft>
                <a:spcPts val="200"/>
              </a:spcAft>
              <a:buAutoNum type="arabicPeriod" startAt="3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A. Mondal et al., "UniTabBank: A Large Scale Multi-Lingual, Multi-Layout, Multi-Type, Multi-Format Dataset for Table Detection," WACV 2026.</a:t>
            </a:r>
          </a:p>
          <a:p>
            <a:pPr marL="228600" indent="-292608">
              <a:spcAft>
                <a:spcPts val="200"/>
              </a:spcAft>
              <a:buAutoNum type="arabicPeriod" startAt="4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V. Pal, E. Kanoulas, A. Yates, M. de Rijke, "Table Question Answering for Low-resourced Indic Languages," arXiv:2410.03576, 2024.</a:t>
            </a:r>
          </a:p>
          <a:p>
            <a:pPr marL="228600" indent="-292608">
              <a:spcAft>
                <a:spcPts val="200"/>
              </a:spcAft>
              <a:buAutoNum type="arabicPeriod" startAt="5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Y. Xu et al., "LayoutXLM: Multimodal Pre-training for Multilingual Visually-rich Document Understanding," arXiv:2104.08836, 2021.</a:t>
            </a:r>
          </a:p>
          <a:p>
            <a:pPr marL="228600" indent="-292608">
              <a:spcAft>
                <a:spcPts val="200"/>
              </a:spcAft>
              <a:buAutoNum type="arabicPeriod" startAt="6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B. V. Kasuba, P. Chaudhuri, G. Ramakrishnan, "DRISHTIKON: Visual Grounding at Multiple Granularities in Documents," arXiv:2506.21316, 2025.</a:t>
            </a:r>
          </a:p>
          <a:p>
            <a:pPr marL="228600" indent="-292608">
              <a:spcAft>
                <a:spcPts val="200"/>
              </a:spcAft>
              <a:buAutoNum type="arabicPeriod" startAt="7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S. Bhattacharyya et al., "Adapting Vision-Language Models for Hindi OCR," IIIT Hyderabad, 2025.</a:t>
            </a:r>
          </a:p>
          <a:p>
            <a:pPr marL="228600" indent="-292608">
              <a:spcAft>
                <a:spcPts val="200"/>
              </a:spcAft>
              <a:buAutoNum type="arabicPeriod" startAt="8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A. R. Dumada, S. G. Shah, "Incorporate Structure and Content for Devanagari Table Extraction," IJSAT 17(1), 2026.</a:t>
            </a:r>
          </a:p>
          <a:p>
            <a:pPr marL="228600" indent="-292608">
              <a:spcAft>
                <a:spcPts val="200"/>
              </a:spcAft>
              <a:buAutoNum type="arabicPeriod" startAt="9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M. Babayeva, J. Dunlap, M. Snětinová, R. Widenhorn, "Translating the Force Concept Inventory in the Age of AI," arXiv:2508.13908, 2025.</a:t>
            </a:r>
          </a:p>
          <a:p>
            <a:pPr marL="228600" indent="-292608">
              <a:spcAft>
                <a:spcPts val="200"/>
              </a:spcAft>
              <a:buAutoNum type="arabicPeriod" startAt="10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R. Rei et al., "CometKiwi: IST-Unbabel 2022 Submission for the Quality Estimation Shared Task," WMT 2022.</a:t>
            </a:r>
          </a:p>
          <a:p>
            <a:pPr marL="228600" indent="-292608">
              <a:spcAft>
                <a:spcPts val="200"/>
              </a:spcAft>
              <a:buAutoNum type="arabicPeriod" startAt="11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Z. Zhao et al., "DocLayout-YOLO: Enhancing Document Layout Analysis through Diverse Synthetic Data and Global-to-Local Adaptive Perception," arXiv:2410.12628, 2024.</a:t>
            </a:r>
          </a:p>
          <a:p>
            <a:pPr marL="228600" indent="-292608">
              <a:spcAft>
                <a:spcPts val="200"/>
              </a:spcAft>
              <a:buAutoNum type="arabicPeriod" startAt="12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Y. Chen et al., "RoDLA: Benchmarking the Robustness of Document Layout Analysis Models," CVPR 2024.</a:t>
            </a:r>
          </a:p>
          <a:p>
            <a:pPr marL="228600" indent="-292608">
              <a:spcAft>
                <a:spcPts val="200"/>
              </a:spcAft>
              <a:buAutoNum type="arabicPeriod" startAt="13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S. Verma et al., "MILU: A Multi-task Indic Language Understanding Benchmark," NAACL 2025.</a:t>
            </a:r>
          </a:p>
          <a:p>
            <a:pPr marL="228600" indent="-292608">
              <a:spcAft>
                <a:spcPts val="200"/>
              </a:spcAft>
              <a:buAutoNum type="arabicPeriod" startAt="14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G. Jocher, A. Chaurasia, J. Qiu, "Ultralytics YOLOv8," 2023.</a:t>
            </a:r>
          </a:p>
          <a:p>
            <a:pPr marL="228600" indent="-292608">
              <a:spcAft>
                <a:spcPts val="200"/>
              </a:spcAft>
              <a:buAutoNum type="arabicPeriod" startAt="15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J. Ansel et al., "PyTorch 2: Faster Machine Learning Through Dynamic Python Bytecode Transformation and Graph Compilation," ASPLOS 2024.</a:t>
            </a:r>
          </a:p>
          <a:p>
            <a:pPr marL="228600" indent="-292608">
              <a:spcAft>
                <a:spcPts val="200"/>
              </a:spcAft>
              <a:buAutoNum type="arabicPeriod" startAt="16"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S. Ren, K. He, R. Girshick, J. Sun, "Faster R-CNN," NeurIPS 2015 (the baseline architecture; the only pre-2021 source).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52360"/>
            <a:ext cx="6675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01168">
              <a:spcAft>
                <a:spcPts val="100"/>
              </a:spcAft>
              <a:buChar char="•"/>
            </a:pPr>
            <a:r>
              <a:rPr sz="1050" b="1">
                <a:solidFill>
                  <a:srgbClr val="000000"/>
                </a:solidFill>
                <a:latin typeface="Times New Roman"/>
              </a:rPr>
              <a:t>Other sources:</a:t>
            </a:r>
          </a:p>
          <a:p>
            <a:pPr marL="502920" indent="-201168">
              <a:spcAft>
                <a:spcPts val="1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Times New Roman"/>
              </a:rPr>
              <a:t>Dataset: huggingface.co/datasets/ai4bharat/indicdlp (AIKosh)</a:t>
            </a:r>
          </a:p>
          <a:p>
            <a:pPr marL="502920" indent="-201168">
              <a:spcAft>
                <a:spcPts val="1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Times New Roman"/>
              </a:rPr>
              <a:t>Weights: zenodo.org/records/15881917</a:t>
            </a:r>
          </a:p>
          <a:p>
            <a:pPr marL="502920" indent="-201168">
              <a:spcAft>
                <a:spcPts val="1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Times New Roman"/>
              </a:rPr>
              <a:t>Tesseract OCR 5 (tessdata_best), tesseract.js 7</a:t>
            </a:r>
          </a:p>
          <a:p>
            <a:pPr marL="502920" indent="-201168">
              <a:spcAft>
                <a:spcPts val="1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Times New Roman"/>
              </a:rPr>
              <a:t>Cases: The News Minute (NEET 2018), Deccan Herald / ETV Bharat (KPSC 2024-25), India Legal (APPSC), The Week / SCC Online (UGC-NET 2026), Medical Dialogues (MBBS 2026)</a:t>
            </a:r>
          </a:p>
          <a:p>
            <a:pPr marL="502920" indent="-201168">
              <a:spcAft>
                <a:spcPts val="1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Times New Roman"/>
              </a:rPr>
              <a:t>Code: github.com/va-ada/IndicDoc-AI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